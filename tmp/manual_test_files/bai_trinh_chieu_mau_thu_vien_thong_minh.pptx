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324A"/>
        </a:solidFill>
      </p:bgPr>
    </p:bg>
    <p:spTree>
      <p:nvGrpSpPr>
        <p:cNvPr id="1" name=""/>
        <p:cNvGrpSpPr/>
        <p:nvPr/>
      </p:nvGrpSpPr>
      <p:grpSpPr>
        <a:xfrm>
          <a:off x="0" y="0"/>
          <a:ext cx="0" cy="0"/>
          <a:chOff x="0" y="0"/>
          <a:chExt cx="0" cy="0"/>
        </a:xfrm>
      </p:grpSpPr>
      <p:sp>
        <p:nvSpPr>
          <p:cNvPr id="2" name="Text 0"/>
          <p:cNvSpPr/>
          <p:nvPr/>
        </p:nvSpPr>
        <p:spPr>
          <a:xfrm>
            <a:off x="685800" y="640080"/>
            <a:ext cx="3840480" cy="256032"/>
          </a:xfrm>
          <a:prstGeom prst="rect">
            <a:avLst/>
          </a:prstGeom>
          <a:noFill/>
          <a:ln/>
        </p:spPr>
        <p:txBody>
          <a:bodyPr wrap="square" lIns="0" tIns="0" rIns="0" bIns="0" rtlCol="0" anchor="ctr"/>
          <a:lstStyle/>
          <a:p>
            <a:pPr indent="0" marL="0">
              <a:buNone/>
            </a:pPr>
            <a:r>
              <a:rPr lang="en-US" sz="1100" b="1" dirty="0">
                <a:solidFill>
                  <a:srgbClr val="9BD3FF"/>
                </a:solidFill>
              </a:rPr>
              <a:t>BÀI TRÌNH CHIẾU MẪU</a:t>
            </a:r>
            <a:endParaRPr lang="en-US" sz="1100" dirty="0"/>
          </a:p>
        </p:txBody>
      </p:sp>
      <p:sp>
        <p:nvSpPr>
          <p:cNvPr id="3" name="Text 1"/>
          <p:cNvSpPr/>
          <p:nvPr/>
        </p:nvSpPr>
        <p:spPr>
          <a:xfrm>
            <a:off x="685800" y="1097280"/>
            <a:ext cx="6583680" cy="1417320"/>
          </a:xfrm>
          <a:prstGeom prst="rect">
            <a:avLst/>
          </a:prstGeom>
          <a:noFill/>
          <a:ln/>
        </p:spPr>
        <p:txBody>
          <a:bodyPr wrap="square" lIns="0" tIns="0" rIns="0" bIns="0" rtlCol="0" anchor="ctr"/>
          <a:lstStyle/>
          <a:p>
            <a:pPr indent="0" marL="0">
              <a:buNone/>
            </a:pPr>
            <a:r>
              <a:rPr lang="en-US" sz="3800" b="1" dirty="0">
                <a:solidFill>
                  <a:srgbClr val="FFFFFF"/>
                </a:solidFill>
              </a:rPr>
              <a:t>Thư viện thông minh</a:t>
            </a:r>
            <a:endParaRPr lang="en-US" sz="3800" dirty="0"/>
          </a:p>
          <a:p>
            <a:pPr indent="0" marL="0">
              <a:buNone/>
            </a:pPr>
            <a:r>
              <a:rPr lang="en-US" sz="3800" b="1" dirty="0">
                <a:solidFill>
                  <a:srgbClr val="FFFFFF"/>
                </a:solidFill>
              </a:rPr>
              <a:t>cho trường học hiện đại</a:t>
            </a:r>
            <a:endParaRPr lang="en-US" sz="3800" dirty="0"/>
          </a:p>
        </p:txBody>
      </p:sp>
      <p:sp>
        <p:nvSpPr>
          <p:cNvPr id="4" name="Text 2"/>
          <p:cNvSpPr/>
          <p:nvPr/>
        </p:nvSpPr>
        <p:spPr>
          <a:xfrm>
            <a:off x="713232" y="2880360"/>
            <a:ext cx="6217920" cy="868680"/>
          </a:xfrm>
          <a:prstGeom prst="rect">
            <a:avLst/>
          </a:prstGeom>
          <a:noFill/>
          <a:ln/>
        </p:spPr>
        <p:txBody>
          <a:bodyPr wrap="square" lIns="254" tIns="254" rIns="254" bIns="254" rtlCol="0" anchor="ctr">
            <a:normAutofit/>
          </a:bodyPr>
          <a:lstStyle/>
          <a:p>
            <a:pPr indent="0" marL="0">
              <a:buNone/>
            </a:pPr>
            <a:r>
              <a:rPr lang="en-US" sz="1600" dirty="0">
                <a:solidFill>
                  <a:srgbClr val="DCEBFA"/>
                </a:solidFill>
              </a:rPr>
              <a:t>Một bộ slide có nội dung dài vừa phải, chủ đề riêng biệt so với PDF, Markdown và hình ảnh. Dùng để kiểm thử khả năng đọc PPTX, tách nội dung theo slide, nhận diện tiêu đề và xử lý đoạn văn.</a:t>
            </a:r>
            <a:endParaRPr lang="en-US" sz="1600" dirty="0"/>
          </a:p>
        </p:txBody>
      </p:sp>
      <p:sp>
        <p:nvSpPr>
          <p:cNvPr id="5" name="Shape 3"/>
          <p:cNvSpPr/>
          <p:nvPr/>
        </p:nvSpPr>
        <p:spPr>
          <a:xfrm>
            <a:off x="7498080" y="731520"/>
            <a:ext cx="3749040" cy="3749040"/>
          </a:xfrm>
          <a:prstGeom prst="arc">
            <a:avLst/>
          </a:prstGeom>
          <a:solidFill>
            <a:srgbClr val="18324A">
              <a:alpha val="0"/>
            </a:srgbClr>
          </a:solidFill>
          <a:ln w="50800">
            <a:solidFill>
              <a:srgbClr val="4DA3FF">
                <a:alpha val="80000"/>
              </a:srgbClr>
            </a:solidFill>
            <a:prstDash val="solid"/>
          </a:ln>
        </p:spPr>
      </p:sp>
      <p:sp>
        <p:nvSpPr>
          <p:cNvPr id="6" name="Shape 4"/>
          <p:cNvSpPr/>
          <p:nvPr/>
        </p:nvSpPr>
        <p:spPr>
          <a:xfrm>
            <a:off x="8092440" y="1508760"/>
            <a:ext cx="2468880" cy="2834640"/>
          </a:xfrm>
          <a:prstGeom prst="rect">
            <a:avLst/>
          </a:prstGeom>
          <a:solidFill>
            <a:srgbClr val="FFFFFF">
              <a:alpha val="93000"/>
            </a:srgbClr>
          </a:solidFill>
          <a:ln w="12700">
            <a:solidFill>
              <a:srgbClr val="FFFFFF">
                <a:alpha val="0"/>
              </a:srgbClr>
            </a:solidFill>
            <a:prstDash val="solid"/>
          </a:ln>
        </p:spPr>
      </p:sp>
      <p:sp>
        <p:nvSpPr>
          <p:cNvPr id="7" name="Text 5"/>
          <p:cNvSpPr/>
          <p:nvPr/>
        </p:nvSpPr>
        <p:spPr>
          <a:xfrm>
            <a:off x="8366760" y="2148840"/>
            <a:ext cx="1920240" cy="822960"/>
          </a:xfrm>
          <a:prstGeom prst="rect">
            <a:avLst/>
          </a:prstGeom>
          <a:noFill/>
          <a:ln/>
        </p:spPr>
        <p:txBody>
          <a:bodyPr wrap="square" lIns="0" tIns="0" rIns="0" bIns="0" rtlCol="0" anchor="ctr"/>
          <a:lstStyle/>
          <a:p>
            <a:pPr algn="ctr" indent="0" marL="0">
              <a:buNone/>
            </a:pPr>
            <a:r>
              <a:rPr lang="en-US" sz="2800" b="1" dirty="0">
                <a:solidFill>
                  <a:srgbClr val="18324A"/>
                </a:solidFill>
              </a:rPr>
              <a:t>AI</a:t>
            </a:r>
            <a:endParaRPr lang="en-US" sz="2800" dirty="0"/>
          </a:p>
          <a:p>
            <a:pPr algn="ctr" indent="0" marL="0">
              <a:buNone/>
            </a:pPr>
            <a:r>
              <a:rPr lang="en-US" sz="2800" b="1" dirty="0">
                <a:solidFill>
                  <a:srgbClr val="18324A"/>
                </a:solidFill>
              </a:rPr>
              <a:t>LIBRARY</a:t>
            </a:r>
            <a:endParaRPr lang="en-US" sz="2800" dirty="0"/>
          </a:p>
        </p:txBody>
      </p:sp>
      <p:sp>
        <p:nvSpPr>
          <p:cNvPr id="8" name="Shape 6"/>
          <p:cNvSpPr/>
          <p:nvPr/>
        </p:nvSpPr>
        <p:spPr>
          <a:xfrm>
            <a:off x="713232" y="5120640"/>
            <a:ext cx="1463040" cy="347472"/>
          </a:xfrm>
          <a:prstGeom prst="roundRect">
            <a:avLst>
              <a:gd name="adj" fmla="val 21053"/>
            </a:avLst>
          </a:prstGeom>
          <a:solidFill>
            <a:srgbClr val="2B6CB0"/>
          </a:solidFill>
          <a:ln w="12700">
            <a:solidFill>
              <a:srgbClr val="2B6CB0"/>
            </a:solidFill>
            <a:prstDash val="solid"/>
          </a:ln>
        </p:spPr>
      </p:sp>
      <p:sp>
        <p:nvSpPr>
          <p:cNvPr id="9" name="Text 7"/>
          <p:cNvSpPr/>
          <p:nvPr/>
        </p:nvSpPr>
        <p:spPr>
          <a:xfrm>
            <a:off x="832104" y="5202936"/>
            <a:ext cx="1225296" cy="146304"/>
          </a:xfrm>
          <a:prstGeom prst="rect">
            <a:avLst/>
          </a:prstGeom>
          <a:noFill/>
          <a:ln/>
        </p:spPr>
        <p:txBody>
          <a:bodyPr wrap="square" lIns="0" tIns="0" rIns="0" bIns="0" rtlCol="0" anchor="ctr"/>
          <a:lstStyle/>
          <a:p>
            <a:pPr algn="ctr" indent="0" marL="0">
              <a:buNone/>
            </a:pPr>
            <a:r>
              <a:rPr lang="en-US" sz="1000" b="1" dirty="0">
                <a:solidFill>
                  <a:srgbClr val="FFFFFF"/>
                </a:solidFill>
              </a:rPr>
              <a:t>Dữ liệu sách</a:t>
            </a:r>
            <a:endParaRPr lang="en-US" sz="1000" dirty="0"/>
          </a:p>
        </p:txBody>
      </p:sp>
      <p:sp>
        <p:nvSpPr>
          <p:cNvPr id="10" name="Shape 8"/>
          <p:cNvSpPr/>
          <p:nvPr/>
        </p:nvSpPr>
        <p:spPr>
          <a:xfrm>
            <a:off x="2331720" y="5120640"/>
            <a:ext cx="1737360" cy="347472"/>
          </a:xfrm>
          <a:prstGeom prst="roundRect">
            <a:avLst>
              <a:gd name="adj" fmla="val 21053"/>
            </a:avLst>
          </a:prstGeom>
          <a:solidFill>
            <a:srgbClr val="2F855A"/>
          </a:solidFill>
          <a:ln w="12700">
            <a:solidFill>
              <a:srgbClr val="2F855A"/>
            </a:solidFill>
            <a:prstDash val="solid"/>
          </a:ln>
        </p:spPr>
      </p:sp>
      <p:sp>
        <p:nvSpPr>
          <p:cNvPr id="11" name="Text 9"/>
          <p:cNvSpPr/>
          <p:nvPr/>
        </p:nvSpPr>
        <p:spPr>
          <a:xfrm>
            <a:off x="2450592" y="5202936"/>
            <a:ext cx="1499616" cy="146304"/>
          </a:xfrm>
          <a:prstGeom prst="rect">
            <a:avLst/>
          </a:prstGeom>
          <a:noFill/>
          <a:ln/>
        </p:spPr>
        <p:txBody>
          <a:bodyPr wrap="square" lIns="0" tIns="0" rIns="0" bIns="0" rtlCol="0" anchor="ctr"/>
          <a:lstStyle/>
          <a:p>
            <a:pPr algn="ctr" indent="0" marL="0">
              <a:buNone/>
            </a:pPr>
            <a:r>
              <a:rPr lang="en-US" sz="1000" b="1" dirty="0">
                <a:solidFill>
                  <a:srgbClr val="FFFFFF"/>
                </a:solidFill>
              </a:rPr>
              <a:t>Tìm kiếm nhanh</a:t>
            </a:r>
            <a:endParaRPr lang="en-US" sz="1000" dirty="0"/>
          </a:p>
        </p:txBody>
      </p:sp>
      <p:sp>
        <p:nvSpPr>
          <p:cNvPr id="12" name="Shape 10"/>
          <p:cNvSpPr/>
          <p:nvPr/>
        </p:nvSpPr>
        <p:spPr>
          <a:xfrm>
            <a:off x="4251960" y="5120640"/>
            <a:ext cx="1737360" cy="347472"/>
          </a:xfrm>
          <a:prstGeom prst="roundRect">
            <a:avLst>
              <a:gd name="adj" fmla="val 21053"/>
            </a:avLst>
          </a:prstGeom>
          <a:solidFill>
            <a:srgbClr val="D69E2E"/>
          </a:solidFill>
          <a:ln w="12700">
            <a:solidFill>
              <a:srgbClr val="D69E2E"/>
            </a:solidFill>
            <a:prstDash val="solid"/>
          </a:ln>
        </p:spPr>
      </p:sp>
      <p:sp>
        <p:nvSpPr>
          <p:cNvPr id="13" name="Text 11"/>
          <p:cNvSpPr/>
          <p:nvPr/>
        </p:nvSpPr>
        <p:spPr>
          <a:xfrm>
            <a:off x="4370832" y="5202936"/>
            <a:ext cx="1499616" cy="146304"/>
          </a:xfrm>
          <a:prstGeom prst="rect">
            <a:avLst/>
          </a:prstGeom>
          <a:noFill/>
          <a:ln/>
        </p:spPr>
        <p:txBody>
          <a:bodyPr wrap="square" lIns="0" tIns="0" rIns="0" bIns="0" rtlCol="0" anchor="ctr"/>
          <a:lstStyle/>
          <a:p>
            <a:pPr algn="ctr" indent="0" marL="0">
              <a:buNone/>
            </a:pPr>
            <a:r>
              <a:rPr lang="en-US" sz="1000" b="1" dirty="0">
                <a:solidFill>
                  <a:srgbClr val="FFFFFF"/>
                </a:solidFill>
              </a:rPr>
              <a:t>Gợi ý học tập</a:t>
            </a:r>
            <a:endParaRPr lang="en-US" sz="1000" dirty="0"/>
          </a:p>
        </p:txBody>
      </p:sp>
      <p:sp>
        <p:nvSpPr>
          <p:cNvPr id="14" name="Text 12"/>
          <p:cNvSpPr/>
          <p:nvPr/>
        </p:nvSpPr>
        <p:spPr>
          <a:xfrm>
            <a:off x="9921240" y="6446520"/>
            <a:ext cx="1645920" cy="182880"/>
          </a:xfrm>
          <a:prstGeom prst="rect">
            <a:avLst/>
          </a:prstGeom>
          <a:noFill/>
          <a:ln/>
        </p:spPr>
        <p:txBody>
          <a:bodyPr wrap="square" lIns="0" tIns="0" rIns="0" bIns="0" rtlCol="0" anchor="ctr"/>
          <a:lstStyle/>
          <a:p>
            <a:pPr algn="r" indent="0" marL="0">
              <a:buNone/>
            </a:pPr>
            <a:r>
              <a:rPr lang="en-US" sz="800" dirty="0">
                <a:solidFill>
                  <a:srgbClr val="7B8794"/>
                </a:solidFill>
              </a:rPr>
              <a:t>File PPTX mẫu • 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2B6CB0"/>
                </a:solidFill>
                <a:latin typeface="Aptos" pitchFamily="34" charset="0"/>
                <a:ea typeface="Aptos" pitchFamily="34" charset="-122"/>
                <a:cs typeface="Aptos" pitchFamily="34" charset="-120"/>
              </a:rPr>
              <a:t>NỘI DUNG MẪU</a:t>
            </a:r>
            <a:endParaRPr lang="en-US" sz="850" dirty="0"/>
          </a:p>
        </p:txBody>
      </p:sp>
      <p:sp>
        <p:nvSpPr>
          <p:cNvPr id="3" name="Text 1"/>
          <p:cNvSpPr/>
          <p:nvPr/>
        </p:nvSpPr>
        <p:spPr>
          <a:xfrm>
            <a:off x="502920" y="548640"/>
            <a:ext cx="7132320" cy="502920"/>
          </a:xfrm>
          <a:prstGeom prst="rect">
            <a:avLst/>
          </a:prstGeom>
          <a:noFill/>
          <a:ln/>
        </p:spPr>
        <p:txBody>
          <a:bodyPr wrap="square" lIns="0" tIns="0" rIns="0" bIns="0" rtlCol="0" anchor="ctr"/>
          <a:lstStyle/>
          <a:p>
            <a:pPr indent="0" marL="0">
              <a:buNone/>
            </a:pPr>
            <a:r>
              <a:rPr lang="en-US" sz="2600" b="1" dirty="0">
                <a:solidFill>
                  <a:srgbClr val="18324A"/>
                </a:solidFill>
                <a:latin typeface="Aptos Display" pitchFamily="34" charset="0"/>
                <a:ea typeface="Aptos Display" pitchFamily="34" charset="-122"/>
                <a:cs typeface="Aptos Display" pitchFamily="34" charset="-120"/>
              </a:rPr>
              <a:t>Vấn đề thường gặp trong thư viện truyền thống</a:t>
            </a:r>
            <a:endParaRPr lang="en-US" sz="2600" dirty="0"/>
          </a:p>
        </p:txBody>
      </p:sp>
      <p:sp>
        <p:nvSpPr>
          <p:cNvPr id="4" name="Shape 2"/>
          <p:cNvSpPr/>
          <p:nvPr/>
        </p:nvSpPr>
        <p:spPr>
          <a:xfrm>
            <a:off x="502920" y="1143000"/>
            <a:ext cx="11064240" cy="0"/>
          </a:xfrm>
          <a:prstGeom prst="line">
            <a:avLst/>
          </a:prstGeom>
          <a:noFill/>
          <a:ln w="12700">
            <a:solidFill>
              <a:srgbClr val="CAD7E3"/>
            </a:solidFill>
            <a:prstDash val="solid"/>
          </a:ln>
        </p:spPr>
      </p:sp>
      <p:sp>
        <p:nvSpPr>
          <p:cNvPr id="5" name="Text 3"/>
          <p:cNvSpPr/>
          <p:nvPr/>
        </p:nvSpPr>
        <p:spPr>
          <a:xfrm>
            <a:off x="685800" y="1508760"/>
            <a:ext cx="5623560" cy="3931920"/>
          </a:xfrm>
          <a:prstGeom prst="rect">
            <a:avLst/>
          </a:prstGeom>
          <a:noFill/>
          <a:ln/>
        </p:spPr>
        <p:txBody>
          <a:bodyPr wrap="square" lIns="635" tIns="635" rIns="635" bIns="635" rtlCol="0" anchor="ctr">
            <a:normAutofit/>
          </a:bodyPr>
          <a:lstStyle/>
          <a:p>
            <a:r>
              <a:rPr lang="en-US" sz="1500" dirty="0">
                <a:solidFill>
                  <a:srgbClr val="52616B"/>
                </a:solidFill>
              </a:rPr>
              <a:t>Dữ liệu sách được ghi chép rời rạc, khó thống kê số lượng sách còn lại và tình trạng mượn trả.</a:t>
            </a:r>
            <a:endParaRPr lang="en-US" sz="1500" dirty="0"/>
          </a:p>
          <a:p>
            <a:r>
              <a:rPr lang="en-US" sz="1500" dirty="0">
                <a:solidFill>
                  <a:srgbClr val="52616B"/>
                </a:solidFill>
              </a:rPr>
              <a:t>Học sinh mất nhiều thời gian tìm tài liệu phù hợp với môn học, cấp lớp hoặc chủ đề nghiên cứu.</a:t>
            </a:r>
            <a:endParaRPr lang="en-US" sz="1500" dirty="0"/>
          </a:p>
          <a:p>
            <a:r>
              <a:rPr lang="en-US" sz="1500" dirty="0">
                <a:solidFill>
                  <a:srgbClr val="52616B"/>
                </a:solidFill>
              </a:rPr>
              <a:t>Thủ thư phải xử lý nhiều thao tác lặp lại như nhập phiếu mượn, nhắc hạn trả và lập báo cáo cuối tháng.</a:t>
            </a:r>
            <a:endParaRPr lang="en-US" sz="1500" dirty="0"/>
          </a:p>
          <a:p>
            <a:r>
              <a:rPr lang="en-US" sz="1500" dirty="0">
                <a:solidFill>
                  <a:srgbClr val="52616B"/>
                </a:solidFill>
              </a:rPr>
              <a:t>Nhà trường thiếu dữ liệu để biết nhóm sách nào được quan tâm, nhóm nào ít sử dụng và cần cập nhật.</a:t>
            </a:r>
            <a:endParaRPr lang="en-US" sz="1500" dirty="0"/>
          </a:p>
        </p:txBody>
      </p:sp>
      <p:sp>
        <p:nvSpPr>
          <p:cNvPr id="6" name="Shape 4"/>
          <p:cNvSpPr/>
          <p:nvPr/>
        </p:nvSpPr>
        <p:spPr>
          <a:xfrm>
            <a:off x="6720840" y="1554480"/>
            <a:ext cx="4434840" cy="3566160"/>
          </a:xfrm>
          <a:prstGeom prst="rect">
            <a:avLst/>
          </a:prstGeom>
          <a:solidFill>
            <a:srgbClr val="E7F0FA"/>
          </a:solidFill>
          <a:ln w="12700">
            <a:solidFill>
              <a:srgbClr val="BDD3EA"/>
            </a:solidFill>
            <a:prstDash val="solid"/>
          </a:ln>
        </p:spPr>
      </p:sp>
      <p:sp>
        <p:nvSpPr>
          <p:cNvPr id="7" name="Text 5"/>
          <p:cNvSpPr/>
          <p:nvPr/>
        </p:nvSpPr>
        <p:spPr>
          <a:xfrm>
            <a:off x="7086600" y="1874520"/>
            <a:ext cx="3749040" cy="292608"/>
          </a:xfrm>
          <a:prstGeom prst="rect">
            <a:avLst/>
          </a:prstGeom>
          <a:noFill/>
          <a:ln/>
        </p:spPr>
        <p:txBody>
          <a:bodyPr wrap="square" lIns="0" tIns="0" rIns="0" bIns="0" rtlCol="0" anchor="ctr"/>
          <a:lstStyle/>
          <a:p>
            <a:pPr indent="0" marL="0">
              <a:buNone/>
            </a:pPr>
            <a:r>
              <a:rPr lang="en-US" sz="2000" b="1" dirty="0">
                <a:solidFill>
                  <a:srgbClr val="18324A"/>
                </a:solidFill>
              </a:rPr>
              <a:t>Tác động</a:t>
            </a:r>
            <a:endParaRPr lang="en-US" sz="2000" dirty="0"/>
          </a:p>
        </p:txBody>
      </p:sp>
      <p:sp>
        <p:nvSpPr>
          <p:cNvPr id="8" name="Text 6"/>
          <p:cNvSpPr/>
          <p:nvPr/>
        </p:nvSpPr>
        <p:spPr>
          <a:xfrm>
            <a:off x="7086600" y="2423160"/>
            <a:ext cx="3566160" cy="1508760"/>
          </a:xfrm>
          <a:prstGeom prst="rect">
            <a:avLst/>
          </a:prstGeom>
          <a:noFill/>
          <a:ln/>
        </p:spPr>
        <p:txBody>
          <a:bodyPr wrap="square" lIns="254" tIns="254" rIns="254" bIns="254" rtlCol="0" anchor="ctr">
            <a:normAutofit/>
          </a:bodyPr>
          <a:lstStyle/>
          <a:p>
            <a:pPr indent="0" marL="0">
              <a:buNone/>
            </a:pPr>
            <a:r>
              <a:rPr lang="en-US" sz="1600" dirty="0">
                <a:solidFill>
                  <a:srgbClr val="52616B"/>
                </a:solidFill>
              </a:rPr>
              <a:t>• Trải nghiệm người đọc chưa tốt</a:t>
            </a:r>
            <a:endParaRPr lang="en-US" sz="1600" dirty="0"/>
          </a:p>
          <a:p>
            <a:pPr indent="0" marL="0">
              <a:buNone/>
            </a:pPr>
            <a:r>
              <a:rPr lang="en-US" sz="1600" dirty="0">
                <a:solidFill>
                  <a:srgbClr val="52616B"/>
                </a:solidFill>
              </a:rPr>
              <a:t>• Báo cáo chậm và thiếu chi tiết</a:t>
            </a:r>
            <a:endParaRPr lang="en-US" sz="1600" dirty="0"/>
          </a:p>
          <a:p>
            <a:pPr indent="0" marL="0">
              <a:buNone/>
            </a:pPr>
            <a:r>
              <a:rPr lang="en-US" sz="1600" dirty="0">
                <a:solidFill>
                  <a:srgbClr val="52616B"/>
                </a:solidFill>
              </a:rPr>
              <a:t>• Khó theo dõi tài nguyên học tập</a:t>
            </a:r>
            <a:endParaRPr lang="en-US" sz="1600" dirty="0"/>
          </a:p>
          <a:p>
            <a:pPr indent="0" marL="0">
              <a:buNone/>
            </a:pPr>
            <a:r>
              <a:rPr lang="en-US" sz="1600" dirty="0">
                <a:solidFill>
                  <a:srgbClr val="52616B"/>
                </a:solidFill>
              </a:rPr>
              <a:t>• Dữ liệu chưa hỗ trợ ra quyết định</a:t>
            </a:r>
            <a:endParaRPr lang="en-US" sz="1600" dirty="0"/>
          </a:p>
        </p:txBody>
      </p:sp>
      <p:sp>
        <p:nvSpPr>
          <p:cNvPr id="9" name="Text 7"/>
          <p:cNvSpPr/>
          <p:nvPr/>
        </p:nvSpPr>
        <p:spPr>
          <a:xfrm>
            <a:off x="7086600" y="4206240"/>
            <a:ext cx="3566160" cy="502920"/>
          </a:xfrm>
          <a:prstGeom prst="rect">
            <a:avLst/>
          </a:prstGeom>
          <a:noFill/>
          <a:ln/>
        </p:spPr>
        <p:txBody>
          <a:bodyPr wrap="square" lIns="254" tIns="254" rIns="254" bIns="254" rtlCol="0" anchor="ctr">
            <a:normAutofit/>
          </a:bodyPr>
          <a:lstStyle/>
          <a:p>
            <a:pPr indent="0" marL="0">
              <a:buNone/>
            </a:pPr>
            <a:r>
              <a:rPr lang="en-US" sz="1400" b="1" dirty="0">
                <a:solidFill>
                  <a:srgbClr val="2F855A"/>
                </a:solidFill>
              </a:rPr>
              <a:t>Kết luận: thư viện cần được số hóa theo hướng dễ dùng, có dữ liệu tập trung và hỗ trợ tìm kiếm thông minh.</a:t>
            </a:r>
            <a:endParaRPr lang="en-US" sz="1400" dirty="0"/>
          </a:p>
        </p:txBody>
      </p:sp>
      <p:sp>
        <p:nvSpPr>
          <p:cNvPr id="10" name="Text 8"/>
          <p:cNvSpPr/>
          <p:nvPr/>
        </p:nvSpPr>
        <p:spPr>
          <a:xfrm>
            <a:off x="9921240" y="6446520"/>
            <a:ext cx="1645920" cy="182880"/>
          </a:xfrm>
          <a:prstGeom prst="rect">
            <a:avLst/>
          </a:prstGeom>
          <a:noFill/>
          <a:ln/>
        </p:spPr>
        <p:txBody>
          <a:bodyPr wrap="square" lIns="0" tIns="0" rIns="0" bIns="0" rtlCol="0" anchor="ctr"/>
          <a:lstStyle/>
          <a:p>
            <a:pPr algn="r" indent="0" marL="0">
              <a:buNone/>
            </a:pPr>
            <a:r>
              <a:rPr lang="en-US" sz="800" dirty="0">
                <a:solidFill>
                  <a:srgbClr val="7B8794"/>
                </a:solidFill>
              </a:rPr>
              <a:t>File PPTX mẫu • 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2B6CB0"/>
                </a:solidFill>
                <a:latin typeface="Aptos" pitchFamily="34" charset="0"/>
                <a:ea typeface="Aptos" pitchFamily="34" charset="-122"/>
                <a:cs typeface="Aptos" pitchFamily="34" charset="-120"/>
              </a:rPr>
              <a:t>NỘI DUNG MẪU</a:t>
            </a:r>
            <a:endParaRPr lang="en-US" sz="850" dirty="0"/>
          </a:p>
        </p:txBody>
      </p:sp>
      <p:sp>
        <p:nvSpPr>
          <p:cNvPr id="3" name="Text 1"/>
          <p:cNvSpPr/>
          <p:nvPr/>
        </p:nvSpPr>
        <p:spPr>
          <a:xfrm>
            <a:off x="502920" y="548640"/>
            <a:ext cx="7132320" cy="502920"/>
          </a:xfrm>
          <a:prstGeom prst="rect">
            <a:avLst/>
          </a:prstGeom>
          <a:noFill/>
          <a:ln/>
        </p:spPr>
        <p:txBody>
          <a:bodyPr wrap="square" lIns="0" tIns="0" rIns="0" bIns="0" rtlCol="0" anchor="ctr"/>
          <a:lstStyle/>
          <a:p>
            <a:pPr indent="0" marL="0">
              <a:buNone/>
            </a:pPr>
            <a:r>
              <a:rPr lang="en-US" sz="2600" b="1" dirty="0">
                <a:solidFill>
                  <a:srgbClr val="18324A"/>
                </a:solidFill>
                <a:latin typeface="Aptos Display" pitchFamily="34" charset="0"/>
                <a:ea typeface="Aptos Display" pitchFamily="34" charset="-122"/>
                <a:cs typeface="Aptos Display" pitchFamily="34" charset="-120"/>
              </a:rPr>
              <a:t>Giải pháp đề xuất: thư viện thông minh</a:t>
            </a:r>
            <a:endParaRPr lang="en-US" sz="2600" dirty="0"/>
          </a:p>
        </p:txBody>
      </p:sp>
      <p:sp>
        <p:nvSpPr>
          <p:cNvPr id="4" name="Shape 2"/>
          <p:cNvSpPr/>
          <p:nvPr/>
        </p:nvSpPr>
        <p:spPr>
          <a:xfrm>
            <a:off x="502920" y="1143000"/>
            <a:ext cx="11064240" cy="0"/>
          </a:xfrm>
          <a:prstGeom prst="line">
            <a:avLst/>
          </a:prstGeom>
          <a:noFill/>
          <a:ln w="12700">
            <a:solidFill>
              <a:srgbClr val="CAD7E3"/>
            </a:solidFill>
            <a:prstDash val="solid"/>
          </a:ln>
        </p:spPr>
      </p:sp>
      <p:sp>
        <p:nvSpPr>
          <p:cNvPr id="5" name="Shape 3"/>
          <p:cNvSpPr/>
          <p:nvPr/>
        </p:nvSpPr>
        <p:spPr>
          <a:xfrm>
            <a:off x="685800" y="1508760"/>
            <a:ext cx="4892040" cy="1508760"/>
          </a:xfrm>
          <a:prstGeom prst="roundRect">
            <a:avLst>
              <a:gd name="adj" fmla="val 4848"/>
            </a:avLst>
          </a:prstGeom>
          <a:solidFill>
            <a:srgbClr val="E8F5EE"/>
          </a:solidFill>
          <a:ln w="12700">
            <a:solidFill>
              <a:srgbClr val="C6D6E4"/>
            </a:solidFill>
            <a:prstDash val="solid"/>
          </a:ln>
        </p:spPr>
      </p:sp>
      <p:sp>
        <p:nvSpPr>
          <p:cNvPr id="6" name="Text 4"/>
          <p:cNvSpPr/>
          <p:nvPr/>
        </p:nvSpPr>
        <p:spPr>
          <a:xfrm>
            <a:off x="914400" y="1764792"/>
            <a:ext cx="594360" cy="320040"/>
          </a:xfrm>
          <a:prstGeom prst="rect">
            <a:avLst/>
          </a:prstGeom>
          <a:noFill/>
          <a:ln/>
        </p:spPr>
        <p:txBody>
          <a:bodyPr wrap="square" lIns="0" tIns="0" rIns="0" bIns="0" rtlCol="0" anchor="ctr"/>
          <a:lstStyle/>
          <a:p>
            <a:pPr indent="0" marL="0">
              <a:buNone/>
            </a:pPr>
            <a:r>
              <a:rPr lang="en-US" sz="2200" b="1" dirty="0">
                <a:solidFill>
                  <a:srgbClr val="2F855A"/>
                </a:solidFill>
              </a:rPr>
              <a:t>01</a:t>
            </a:r>
            <a:endParaRPr lang="en-US" sz="2200" dirty="0"/>
          </a:p>
        </p:txBody>
      </p:sp>
      <p:sp>
        <p:nvSpPr>
          <p:cNvPr id="7" name="Text 5"/>
          <p:cNvSpPr/>
          <p:nvPr/>
        </p:nvSpPr>
        <p:spPr>
          <a:xfrm>
            <a:off x="1645920" y="1728216"/>
            <a:ext cx="3566160" cy="274320"/>
          </a:xfrm>
          <a:prstGeom prst="rect">
            <a:avLst/>
          </a:prstGeom>
          <a:noFill/>
          <a:ln/>
        </p:spPr>
        <p:txBody>
          <a:bodyPr wrap="square" lIns="0" tIns="0" rIns="0" bIns="0" rtlCol="0" anchor="ctr"/>
          <a:lstStyle/>
          <a:p>
            <a:pPr indent="0" marL="0">
              <a:buNone/>
            </a:pPr>
            <a:r>
              <a:rPr lang="en-US" sz="1800" b="1" dirty="0">
                <a:solidFill>
                  <a:srgbClr val="18324A"/>
                </a:solidFill>
              </a:rPr>
              <a:t>Quản lý tài nguyên</a:t>
            </a:r>
            <a:endParaRPr lang="en-US" sz="1800" dirty="0"/>
          </a:p>
        </p:txBody>
      </p:sp>
      <p:sp>
        <p:nvSpPr>
          <p:cNvPr id="8" name="Text 6"/>
          <p:cNvSpPr/>
          <p:nvPr/>
        </p:nvSpPr>
        <p:spPr>
          <a:xfrm>
            <a:off x="1645920" y="2167128"/>
            <a:ext cx="3566160" cy="566928"/>
          </a:xfrm>
          <a:prstGeom prst="rect">
            <a:avLst/>
          </a:prstGeom>
          <a:noFill/>
          <a:ln/>
        </p:spPr>
        <p:txBody>
          <a:bodyPr wrap="square" lIns="254" tIns="254" rIns="254" bIns="254" rtlCol="0" anchor="ctr">
            <a:normAutofit/>
          </a:bodyPr>
          <a:lstStyle/>
          <a:p>
            <a:pPr indent="0" marL="0">
              <a:buNone/>
            </a:pPr>
            <a:r>
              <a:rPr lang="en-US" sz="1250" dirty="0">
                <a:solidFill>
                  <a:srgbClr val="52616B"/>
                </a:solidFill>
              </a:rPr>
              <a:t>Lưu thông tin sách, tác giả, thể loại, vị trí kệ, trạng thái mượn và lịch sử cập nhật.</a:t>
            </a:r>
            <a:endParaRPr lang="en-US" sz="1250" dirty="0"/>
          </a:p>
        </p:txBody>
      </p:sp>
      <p:sp>
        <p:nvSpPr>
          <p:cNvPr id="9" name="Shape 7"/>
          <p:cNvSpPr/>
          <p:nvPr/>
        </p:nvSpPr>
        <p:spPr>
          <a:xfrm>
            <a:off x="6263640" y="1508760"/>
            <a:ext cx="4892040" cy="1508760"/>
          </a:xfrm>
          <a:prstGeom prst="roundRect">
            <a:avLst>
              <a:gd name="adj" fmla="val 4848"/>
            </a:avLst>
          </a:prstGeom>
          <a:solidFill>
            <a:srgbClr val="E7F0FA"/>
          </a:solidFill>
          <a:ln w="12700">
            <a:solidFill>
              <a:srgbClr val="C6D6E4"/>
            </a:solidFill>
            <a:prstDash val="solid"/>
          </a:ln>
        </p:spPr>
      </p:sp>
      <p:sp>
        <p:nvSpPr>
          <p:cNvPr id="10" name="Text 8"/>
          <p:cNvSpPr/>
          <p:nvPr/>
        </p:nvSpPr>
        <p:spPr>
          <a:xfrm>
            <a:off x="6492240" y="1764792"/>
            <a:ext cx="594360" cy="320040"/>
          </a:xfrm>
          <a:prstGeom prst="rect">
            <a:avLst/>
          </a:prstGeom>
          <a:noFill/>
          <a:ln/>
        </p:spPr>
        <p:txBody>
          <a:bodyPr wrap="square" lIns="0" tIns="0" rIns="0" bIns="0" rtlCol="0" anchor="ctr"/>
          <a:lstStyle/>
          <a:p>
            <a:pPr indent="0" marL="0">
              <a:buNone/>
            </a:pPr>
            <a:r>
              <a:rPr lang="en-US" sz="2200" b="1" dirty="0">
                <a:solidFill>
                  <a:srgbClr val="2B6CB0"/>
                </a:solidFill>
              </a:rPr>
              <a:t>02</a:t>
            </a:r>
            <a:endParaRPr lang="en-US" sz="2200" dirty="0"/>
          </a:p>
        </p:txBody>
      </p:sp>
      <p:sp>
        <p:nvSpPr>
          <p:cNvPr id="11" name="Text 9"/>
          <p:cNvSpPr/>
          <p:nvPr/>
        </p:nvSpPr>
        <p:spPr>
          <a:xfrm>
            <a:off x="7223760" y="1728216"/>
            <a:ext cx="3566160" cy="274320"/>
          </a:xfrm>
          <a:prstGeom prst="rect">
            <a:avLst/>
          </a:prstGeom>
          <a:noFill/>
          <a:ln/>
        </p:spPr>
        <p:txBody>
          <a:bodyPr wrap="square" lIns="0" tIns="0" rIns="0" bIns="0" rtlCol="0" anchor="ctr"/>
          <a:lstStyle/>
          <a:p>
            <a:pPr indent="0" marL="0">
              <a:buNone/>
            </a:pPr>
            <a:r>
              <a:rPr lang="en-US" sz="1800" b="1" dirty="0">
                <a:solidFill>
                  <a:srgbClr val="18324A"/>
                </a:solidFill>
              </a:rPr>
              <a:t>Tìm kiếm ngữ nghĩa</a:t>
            </a:r>
            <a:endParaRPr lang="en-US" sz="1800" dirty="0"/>
          </a:p>
        </p:txBody>
      </p:sp>
      <p:sp>
        <p:nvSpPr>
          <p:cNvPr id="12" name="Text 10"/>
          <p:cNvSpPr/>
          <p:nvPr/>
        </p:nvSpPr>
        <p:spPr>
          <a:xfrm>
            <a:off x="7223760" y="2167128"/>
            <a:ext cx="3566160" cy="566928"/>
          </a:xfrm>
          <a:prstGeom prst="rect">
            <a:avLst/>
          </a:prstGeom>
          <a:noFill/>
          <a:ln/>
        </p:spPr>
        <p:txBody>
          <a:bodyPr wrap="square" lIns="254" tIns="254" rIns="254" bIns="254" rtlCol="0" anchor="ctr">
            <a:normAutofit/>
          </a:bodyPr>
          <a:lstStyle/>
          <a:p>
            <a:pPr indent="0" marL="0">
              <a:buNone/>
            </a:pPr>
            <a:r>
              <a:rPr lang="en-US" sz="1250" dirty="0">
                <a:solidFill>
                  <a:srgbClr val="52616B"/>
                </a:solidFill>
              </a:rPr>
              <a:t>Cho phép người dùng tìm theo nhu cầu, ví dụ: “sách dễ hiểu về mạng máy tính cho người mới”.</a:t>
            </a:r>
            <a:endParaRPr lang="en-US" sz="1250" dirty="0"/>
          </a:p>
        </p:txBody>
      </p:sp>
      <p:sp>
        <p:nvSpPr>
          <p:cNvPr id="13" name="Shape 11"/>
          <p:cNvSpPr/>
          <p:nvPr/>
        </p:nvSpPr>
        <p:spPr>
          <a:xfrm>
            <a:off x="685800" y="3794760"/>
            <a:ext cx="4892040" cy="1508760"/>
          </a:xfrm>
          <a:prstGeom prst="roundRect">
            <a:avLst>
              <a:gd name="adj" fmla="val 4848"/>
            </a:avLst>
          </a:prstGeom>
          <a:solidFill>
            <a:srgbClr val="E8F5EE"/>
          </a:solidFill>
          <a:ln w="12700">
            <a:solidFill>
              <a:srgbClr val="C6D6E4"/>
            </a:solidFill>
            <a:prstDash val="solid"/>
          </a:ln>
        </p:spPr>
      </p:sp>
      <p:sp>
        <p:nvSpPr>
          <p:cNvPr id="14" name="Text 12"/>
          <p:cNvSpPr/>
          <p:nvPr/>
        </p:nvSpPr>
        <p:spPr>
          <a:xfrm>
            <a:off x="914400" y="4050792"/>
            <a:ext cx="594360" cy="320040"/>
          </a:xfrm>
          <a:prstGeom prst="rect">
            <a:avLst/>
          </a:prstGeom>
          <a:noFill/>
          <a:ln/>
        </p:spPr>
        <p:txBody>
          <a:bodyPr wrap="square" lIns="0" tIns="0" rIns="0" bIns="0" rtlCol="0" anchor="ctr"/>
          <a:lstStyle/>
          <a:p>
            <a:pPr indent="0" marL="0">
              <a:buNone/>
            </a:pPr>
            <a:r>
              <a:rPr lang="en-US" sz="2200" b="1" dirty="0">
                <a:solidFill>
                  <a:srgbClr val="2F855A"/>
                </a:solidFill>
              </a:rPr>
              <a:t>03</a:t>
            </a:r>
            <a:endParaRPr lang="en-US" sz="2200" dirty="0"/>
          </a:p>
        </p:txBody>
      </p:sp>
      <p:sp>
        <p:nvSpPr>
          <p:cNvPr id="15" name="Text 13"/>
          <p:cNvSpPr/>
          <p:nvPr/>
        </p:nvSpPr>
        <p:spPr>
          <a:xfrm>
            <a:off x="1645920" y="4014216"/>
            <a:ext cx="3566160" cy="274320"/>
          </a:xfrm>
          <a:prstGeom prst="rect">
            <a:avLst/>
          </a:prstGeom>
          <a:noFill/>
          <a:ln/>
        </p:spPr>
        <p:txBody>
          <a:bodyPr wrap="square" lIns="0" tIns="0" rIns="0" bIns="0" rtlCol="0" anchor="ctr"/>
          <a:lstStyle/>
          <a:p>
            <a:pPr indent="0" marL="0">
              <a:buNone/>
            </a:pPr>
            <a:r>
              <a:rPr lang="en-US" sz="1800" b="1" dirty="0">
                <a:solidFill>
                  <a:srgbClr val="18324A"/>
                </a:solidFill>
              </a:rPr>
              <a:t>Gợi ý cá nhân hóa</a:t>
            </a:r>
            <a:endParaRPr lang="en-US" sz="1800" dirty="0"/>
          </a:p>
        </p:txBody>
      </p:sp>
      <p:sp>
        <p:nvSpPr>
          <p:cNvPr id="16" name="Text 14"/>
          <p:cNvSpPr/>
          <p:nvPr/>
        </p:nvSpPr>
        <p:spPr>
          <a:xfrm>
            <a:off x="1645920" y="4453128"/>
            <a:ext cx="3566160" cy="566928"/>
          </a:xfrm>
          <a:prstGeom prst="rect">
            <a:avLst/>
          </a:prstGeom>
          <a:noFill/>
          <a:ln/>
        </p:spPr>
        <p:txBody>
          <a:bodyPr wrap="square" lIns="254" tIns="254" rIns="254" bIns="254" rtlCol="0" anchor="ctr">
            <a:normAutofit/>
          </a:bodyPr>
          <a:lstStyle/>
          <a:p>
            <a:pPr indent="0" marL="0">
              <a:buNone/>
            </a:pPr>
            <a:r>
              <a:rPr lang="en-US" sz="1250" dirty="0">
                <a:solidFill>
                  <a:srgbClr val="52616B"/>
                </a:solidFill>
              </a:rPr>
              <a:t>Đề xuất tài liệu dựa trên lớp học, môn học, lịch sử mượn và chủ đề đang quan tâm.</a:t>
            </a:r>
            <a:endParaRPr lang="en-US" sz="1250" dirty="0"/>
          </a:p>
        </p:txBody>
      </p:sp>
      <p:sp>
        <p:nvSpPr>
          <p:cNvPr id="17" name="Shape 15"/>
          <p:cNvSpPr/>
          <p:nvPr/>
        </p:nvSpPr>
        <p:spPr>
          <a:xfrm>
            <a:off x="6263640" y="3794760"/>
            <a:ext cx="4892040" cy="1508760"/>
          </a:xfrm>
          <a:prstGeom prst="roundRect">
            <a:avLst>
              <a:gd name="adj" fmla="val 4848"/>
            </a:avLst>
          </a:prstGeom>
          <a:solidFill>
            <a:srgbClr val="E7F0FA"/>
          </a:solidFill>
          <a:ln w="12700">
            <a:solidFill>
              <a:srgbClr val="C6D6E4"/>
            </a:solidFill>
            <a:prstDash val="solid"/>
          </a:ln>
        </p:spPr>
      </p:sp>
      <p:sp>
        <p:nvSpPr>
          <p:cNvPr id="18" name="Text 16"/>
          <p:cNvSpPr/>
          <p:nvPr/>
        </p:nvSpPr>
        <p:spPr>
          <a:xfrm>
            <a:off x="6492240" y="4050792"/>
            <a:ext cx="594360" cy="320040"/>
          </a:xfrm>
          <a:prstGeom prst="rect">
            <a:avLst/>
          </a:prstGeom>
          <a:noFill/>
          <a:ln/>
        </p:spPr>
        <p:txBody>
          <a:bodyPr wrap="square" lIns="0" tIns="0" rIns="0" bIns="0" rtlCol="0" anchor="ctr"/>
          <a:lstStyle/>
          <a:p>
            <a:pPr indent="0" marL="0">
              <a:buNone/>
            </a:pPr>
            <a:r>
              <a:rPr lang="en-US" sz="2200" b="1" dirty="0">
                <a:solidFill>
                  <a:srgbClr val="2B6CB0"/>
                </a:solidFill>
              </a:rPr>
              <a:t>04</a:t>
            </a:r>
            <a:endParaRPr lang="en-US" sz="2200" dirty="0"/>
          </a:p>
        </p:txBody>
      </p:sp>
      <p:sp>
        <p:nvSpPr>
          <p:cNvPr id="19" name="Text 17"/>
          <p:cNvSpPr/>
          <p:nvPr/>
        </p:nvSpPr>
        <p:spPr>
          <a:xfrm>
            <a:off x="7223760" y="4014216"/>
            <a:ext cx="3566160" cy="274320"/>
          </a:xfrm>
          <a:prstGeom prst="rect">
            <a:avLst/>
          </a:prstGeom>
          <a:noFill/>
          <a:ln/>
        </p:spPr>
        <p:txBody>
          <a:bodyPr wrap="square" lIns="0" tIns="0" rIns="0" bIns="0" rtlCol="0" anchor="ctr"/>
          <a:lstStyle/>
          <a:p>
            <a:pPr indent="0" marL="0">
              <a:buNone/>
            </a:pPr>
            <a:r>
              <a:rPr lang="en-US" sz="1800" b="1" dirty="0">
                <a:solidFill>
                  <a:srgbClr val="18324A"/>
                </a:solidFill>
              </a:rPr>
              <a:t>Báo cáo vận hành</a:t>
            </a:r>
            <a:endParaRPr lang="en-US" sz="1800" dirty="0"/>
          </a:p>
        </p:txBody>
      </p:sp>
      <p:sp>
        <p:nvSpPr>
          <p:cNvPr id="20" name="Text 18"/>
          <p:cNvSpPr/>
          <p:nvPr/>
        </p:nvSpPr>
        <p:spPr>
          <a:xfrm>
            <a:off x="7223760" y="4453128"/>
            <a:ext cx="3566160" cy="566928"/>
          </a:xfrm>
          <a:prstGeom prst="rect">
            <a:avLst/>
          </a:prstGeom>
          <a:noFill/>
          <a:ln/>
        </p:spPr>
        <p:txBody>
          <a:bodyPr wrap="square" lIns="254" tIns="254" rIns="254" bIns="254" rtlCol="0" anchor="ctr">
            <a:normAutofit/>
          </a:bodyPr>
          <a:lstStyle/>
          <a:p>
            <a:pPr indent="0" marL="0">
              <a:buNone/>
            </a:pPr>
            <a:r>
              <a:rPr lang="en-US" sz="1250" dirty="0">
                <a:solidFill>
                  <a:srgbClr val="52616B"/>
                </a:solidFill>
              </a:rPr>
              <a:t>Thống kê lượt mượn, sách quá hạn, tài liệu phổ biến và xu hướng đọc theo từng tháng.</a:t>
            </a:r>
            <a:endParaRPr lang="en-US" sz="1250" dirty="0"/>
          </a:p>
        </p:txBody>
      </p:sp>
      <p:sp>
        <p:nvSpPr>
          <p:cNvPr id="21" name="Text 19"/>
          <p:cNvSpPr/>
          <p:nvPr/>
        </p:nvSpPr>
        <p:spPr>
          <a:xfrm>
            <a:off x="9921240" y="6446520"/>
            <a:ext cx="1645920" cy="182880"/>
          </a:xfrm>
          <a:prstGeom prst="rect">
            <a:avLst/>
          </a:prstGeom>
          <a:noFill/>
          <a:ln/>
        </p:spPr>
        <p:txBody>
          <a:bodyPr wrap="square" lIns="0" tIns="0" rIns="0" bIns="0" rtlCol="0" anchor="ctr"/>
          <a:lstStyle/>
          <a:p>
            <a:pPr algn="r" indent="0" marL="0">
              <a:buNone/>
            </a:pPr>
            <a:r>
              <a:rPr lang="en-US" sz="800" dirty="0">
                <a:solidFill>
                  <a:srgbClr val="7B8794"/>
                </a:solidFill>
              </a:rPr>
              <a:t>File PPTX mẫu • 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2B6CB0"/>
                </a:solidFill>
                <a:latin typeface="Aptos" pitchFamily="34" charset="0"/>
                <a:ea typeface="Aptos" pitchFamily="34" charset="-122"/>
                <a:cs typeface="Aptos" pitchFamily="34" charset="-120"/>
              </a:rPr>
              <a:t>NỘI DUNG MẪU</a:t>
            </a:r>
            <a:endParaRPr lang="en-US" sz="850" dirty="0"/>
          </a:p>
        </p:txBody>
      </p:sp>
      <p:sp>
        <p:nvSpPr>
          <p:cNvPr id="3" name="Text 1"/>
          <p:cNvSpPr/>
          <p:nvPr/>
        </p:nvSpPr>
        <p:spPr>
          <a:xfrm>
            <a:off x="502920" y="548640"/>
            <a:ext cx="7132320" cy="502920"/>
          </a:xfrm>
          <a:prstGeom prst="rect">
            <a:avLst/>
          </a:prstGeom>
          <a:noFill/>
          <a:ln/>
        </p:spPr>
        <p:txBody>
          <a:bodyPr wrap="square" lIns="0" tIns="0" rIns="0" bIns="0" rtlCol="0" anchor="ctr"/>
          <a:lstStyle/>
          <a:p>
            <a:pPr indent="0" marL="0">
              <a:buNone/>
            </a:pPr>
            <a:r>
              <a:rPr lang="en-US" sz="2600" b="1" dirty="0">
                <a:solidFill>
                  <a:srgbClr val="18324A"/>
                </a:solidFill>
                <a:latin typeface="Aptos Display" pitchFamily="34" charset="0"/>
                <a:ea typeface="Aptos Display" pitchFamily="34" charset="-122"/>
                <a:cs typeface="Aptos Display" pitchFamily="34" charset="-120"/>
              </a:rPr>
              <a:t>Luồng sử dụng mẫu</a:t>
            </a:r>
            <a:endParaRPr lang="en-US" sz="2600" dirty="0"/>
          </a:p>
        </p:txBody>
      </p:sp>
      <p:sp>
        <p:nvSpPr>
          <p:cNvPr id="4" name="Shape 2"/>
          <p:cNvSpPr/>
          <p:nvPr/>
        </p:nvSpPr>
        <p:spPr>
          <a:xfrm>
            <a:off x="502920" y="1143000"/>
            <a:ext cx="11064240" cy="0"/>
          </a:xfrm>
          <a:prstGeom prst="line">
            <a:avLst/>
          </a:prstGeom>
          <a:noFill/>
          <a:ln w="12700">
            <a:solidFill>
              <a:srgbClr val="CAD7E3"/>
            </a:solidFill>
            <a:prstDash val="solid"/>
          </a:ln>
        </p:spPr>
      </p:sp>
      <p:sp>
        <p:nvSpPr>
          <p:cNvPr id="5" name="Shape 3"/>
          <p:cNvSpPr/>
          <p:nvPr/>
        </p:nvSpPr>
        <p:spPr>
          <a:xfrm>
            <a:off x="685800" y="1874520"/>
            <a:ext cx="1828800" cy="1143000"/>
          </a:xfrm>
          <a:prstGeom prst="chevron">
            <a:avLst/>
          </a:prstGeom>
          <a:solidFill>
            <a:srgbClr val="2B6CB0"/>
          </a:solidFill>
          <a:ln w="12700">
            <a:solidFill>
              <a:srgbClr val="FFFFFF"/>
            </a:solidFill>
            <a:prstDash val="solid"/>
          </a:ln>
        </p:spPr>
      </p:sp>
      <p:sp>
        <p:nvSpPr>
          <p:cNvPr id="6" name="Text 4"/>
          <p:cNvSpPr/>
          <p:nvPr/>
        </p:nvSpPr>
        <p:spPr>
          <a:xfrm>
            <a:off x="777240" y="2148840"/>
            <a:ext cx="457200" cy="27432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7" name="Text 5"/>
          <p:cNvSpPr/>
          <p:nvPr/>
        </p:nvSpPr>
        <p:spPr>
          <a:xfrm>
            <a:off x="1261872" y="2121408"/>
            <a:ext cx="960120" cy="228600"/>
          </a:xfrm>
          <a:prstGeom prst="rect">
            <a:avLst/>
          </a:prstGeom>
          <a:noFill/>
          <a:ln/>
        </p:spPr>
        <p:txBody>
          <a:bodyPr wrap="square" lIns="0" tIns="0" rIns="0" bIns="0" rtlCol="0" anchor="ctr"/>
          <a:lstStyle/>
          <a:p>
            <a:pPr indent="0" marL="0">
              <a:buNone/>
            </a:pPr>
            <a:r>
              <a:rPr lang="en-US" sz="1300" b="1" dirty="0">
                <a:solidFill>
                  <a:srgbClr val="FFFFFF"/>
                </a:solidFill>
              </a:rPr>
              <a:t>Đăng nhập</a:t>
            </a:r>
            <a:endParaRPr lang="en-US" sz="1300" dirty="0"/>
          </a:p>
        </p:txBody>
      </p:sp>
      <p:sp>
        <p:nvSpPr>
          <p:cNvPr id="8" name="Text 6"/>
          <p:cNvSpPr/>
          <p:nvPr/>
        </p:nvSpPr>
        <p:spPr>
          <a:xfrm>
            <a:off x="640080" y="3337560"/>
            <a:ext cx="1920240" cy="822960"/>
          </a:xfrm>
          <a:prstGeom prst="rect">
            <a:avLst/>
          </a:prstGeom>
          <a:noFill/>
          <a:ln/>
        </p:spPr>
        <p:txBody>
          <a:bodyPr wrap="square" lIns="254" tIns="254" rIns="254" bIns="254" rtlCol="0" anchor="ctr">
            <a:normAutofit/>
          </a:bodyPr>
          <a:lstStyle/>
          <a:p>
            <a:pPr algn="ctr" indent="0" marL="0">
              <a:buNone/>
            </a:pPr>
            <a:r>
              <a:rPr lang="en-US" sz="1200" dirty="0">
                <a:solidFill>
                  <a:srgbClr val="52616B"/>
                </a:solidFill>
              </a:rPr>
              <a:t>Học sinh hoặc giáo viên truy cập bằng tài khoản trường.</a:t>
            </a:r>
            <a:endParaRPr lang="en-US" sz="1200" dirty="0"/>
          </a:p>
        </p:txBody>
      </p:sp>
      <p:sp>
        <p:nvSpPr>
          <p:cNvPr id="9" name="Shape 7"/>
          <p:cNvSpPr/>
          <p:nvPr/>
        </p:nvSpPr>
        <p:spPr>
          <a:xfrm>
            <a:off x="2926080" y="1874520"/>
            <a:ext cx="1828800" cy="1143000"/>
          </a:xfrm>
          <a:prstGeom prst="chevron">
            <a:avLst/>
          </a:prstGeom>
          <a:solidFill>
            <a:srgbClr val="2F855A"/>
          </a:solidFill>
          <a:ln w="12700">
            <a:solidFill>
              <a:srgbClr val="FFFFFF"/>
            </a:solidFill>
            <a:prstDash val="solid"/>
          </a:ln>
        </p:spPr>
      </p:sp>
      <p:sp>
        <p:nvSpPr>
          <p:cNvPr id="10" name="Text 8"/>
          <p:cNvSpPr/>
          <p:nvPr/>
        </p:nvSpPr>
        <p:spPr>
          <a:xfrm>
            <a:off x="3017520" y="2148840"/>
            <a:ext cx="457200" cy="27432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1" name="Text 9"/>
          <p:cNvSpPr/>
          <p:nvPr/>
        </p:nvSpPr>
        <p:spPr>
          <a:xfrm>
            <a:off x="3502152" y="2121408"/>
            <a:ext cx="960120" cy="228600"/>
          </a:xfrm>
          <a:prstGeom prst="rect">
            <a:avLst/>
          </a:prstGeom>
          <a:noFill/>
          <a:ln/>
        </p:spPr>
        <p:txBody>
          <a:bodyPr wrap="square" lIns="0" tIns="0" rIns="0" bIns="0" rtlCol="0" anchor="ctr"/>
          <a:lstStyle/>
          <a:p>
            <a:pPr indent="0" marL="0">
              <a:buNone/>
            </a:pPr>
            <a:r>
              <a:rPr lang="en-US" sz="1300" b="1" dirty="0">
                <a:solidFill>
                  <a:srgbClr val="FFFFFF"/>
                </a:solidFill>
              </a:rPr>
              <a:t>Tìm tài liệu</a:t>
            </a:r>
            <a:endParaRPr lang="en-US" sz="1300" dirty="0"/>
          </a:p>
        </p:txBody>
      </p:sp>
      <p:sp>
        <p:nvSpPr>
          <p:cNvPr id="12" name="Text 10"/>
          <p:cNvSpPr/>
          <p:nvPr/>
        </p:nvSpPr>
        <p:spPr>
          <a:xfrm>
            <a:off x="2880360" y="3337560"/>
            <a:ext cx="1920240" cy="822960"/>
          </a:xfrm>
          <a:prstGeom prst="rect">
            <a:avLst/>
          </a:prstGeom>
          <a:noFill/>
          <a:ln/>
        </p:spPr>
        <p:txBody>
          <a:bodyPr wrap="square" lIns="254" tIns="254" rIns="254" bIns="254" rtlCol="0" anchor="ctr">
            <a:normAutofit/>
          </a:bodyPr>
          <a:lstStyle/>
          <a:p>
            <a:pPr algn="ctr" indent="0" marL="0">
              <a:buNone/>
            </a:pPr>
            <a:r>
              <a:rPr lang="en-US" sz="1200" dirty="0">
                <a:solidFill>
                  <a:srgbClr val="52616B"/>
                </a:solidFill>
              </a:rPr>
              <a:t>Nhập từ khóa, câu hỏi hoặc chọn bộ lọc theo môn học.</a:t>
            </a:r>
            <a:endParaRPr lang="en-US" sz="1200" dirty="0"/>
          </a:p>
        </p:txBody>
      </p:sp>
      <p:sp>
        <p:nvSpPr>
          <p:cNvPr id="13" name="Shape 11"/>
          <p:cNvSpPr/>
          <p:nvPr/>
        </p:nvSpPr>
        <p:spPr>
          <a:xfrm>
            <a:off x="5166360" y="1874520"/>
            <a:ext cx="1828800" cy="1143000"/>
          </a:xfrm>
          <a:prstGeom prst="chevron">
            <a:avLst/>
          </a:prstGeom>
          <a:solidFill>
            <a:srgbClr val="2B6CB0"/>
          </a:solidFill>
          <a:ln w="12700">
            <a:solidFill>
              <a:srgbClr val="FFFFFF"/>
            </a:solidFill>
            <a:prstDash val="solid"/>
          </a:ln>
        </p:spPr>
      </p:sp>
      <p:sp>
        <p:nvSpPr>
          <p:cNvPr id="14" name="Text 12"/>
          <p:cNvSpPr/>
          <p:nvPr/>
        </p:nvSpPr>
        <p:spPr>
          <a:xfrm>
            <a:off x="5257800" y="2148840"/>
            <a:ext cx="457200" cy="27432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15" name="Text 13"/>
          <p:cNvSpPr/>
          <p:nvPr/>
        </p:nvSpPr>
        <p:spPr>
          <a:xfrm>
            <a:off x="5742432" y="2121408"/>
            <a:ext cx="960120" cy="228600"/>
          </a:xfrm>
          <a:prstGeom prst="rect">
            <a:avLst/>
          </a:prstGeom>
          <a:noFill/>
          <a:ln/>
        </p:spPr>
        <p:txBody>
          <a:bodyPr wrap="square" lIns="0" tIns="0" rIns="0" bIns="0" rtlCol="0" anchor="ctr"/>
          <a:lstStyle/>
          <a:p>
            <a:pPr indent="0" marL="0">
              <a:buNone/>
            </a:pPr>
            <a:r>
              <a:rPr lang="en-US" sz="1300" b="1" dirty="0">
                <a:solidFill>
                  <a:srgbClr val="FFFFFF"/>
                </a:solidFill>
              </a:rPr>
              <a:t>Xem gợi ý</a:t>
            </a:r>
            <a:endParaRPr lang="en-US" sz="1300" dirty="0"/>
          </a:p>
        </p:txBody>
      </p:sp>
      <p:sp>
        <p:nvSpPr>
          <p:cNvPr id="16" name="Text 14"/>
          <p:cNvSpPr/>
          <p:nvPr/>
        </p:nvSpPr>
        <p:spPr>
          <a:xfrm>
            <a:off x="5120640" y="3337560"/>
            <a:ext cx="1920240" cy="822960"/>
          </a:xfrm>
          <a:prstGeom prst="rect">
            <a:avLst/>
          </a:prstGeom>
          <a:noFill/>
          <a:ln/>
        </p:spPr>
        <p:txBody>
          <a:bodyPr wrap="square" lIns="254" tIns="254" rIns="254" bIns="254" rtlCol="0" anchor="ctr">
            <a:normAutofit/>
          </a:bodyPr>
          <a:lstStyle/>
          <a:p>
            <a:pPr algn="ctr" indent="0" marL="0">
              <a:buNone/>
            </a:pPr>
            <a:r>
              <a:rPr lang="en-US" sz="1200" dirty="0">
                <a:solidFill>
                  <a:srgbClr val="52616B"/>
                </a:solidFill>
              </a:rPr>
              <a:t>Hệ thống hiển thị sách, bài viết, tài liệu số liên quan.</a:t>
            </a:r>
            <a:endParaRPr lang="en-US" sz="1200" dirty="0"/>
          </a:p>
        </p:txBody>
      </p:sp>
      <p:sp>
        <p:nvSpPr>
          <p:cNvPr id="17" name="Shape 15"/>
          <p:cNvSpPr/>
          <p:nvPr/>
        </p:nvSpPr>
        <p:spPr>
          <a:xfrm>
            <a:off x="7406640" y="1874520"/>
            <a:ext cx="1828800" cy="1143000"/>
          </a:xfrm>
          <a:prstGeom prst="chevron">
            <a:avLst/>
          </a:prstGeom>
          <a:solidFill>
            <a:srgbClr val="2F855A"/>
          </a:solidFill>
          <a:ln w="12700">
            <a:solidFill>
              <a:srgbClr val="FFFFFF"/>
            </a:solidFill>
            <a:prstDash val="solid"/>
          </a:ln>
        </p:spPr>
      </p:sp>
      <p:sp>
        <p:nvSpPr>
          <p:cNvPr id="18" name="Text 16"/>
          <p:cNvSpPr/>
          <p:nvPr/>
        </p:nvSpPr>
        <p:spPr>
          <a:xfrm>
            <a:off x="7498080" y="2148840"/>
            <a:ext cx="457200" cy="274320"/>
          </a:xfrm>
          <a:prstGeom prst="rect">
            <a:avLst/>
          </a:prstGeom>
          <a:noFill/>
          <a:ln/>
        </p:spPr>
        <p:txBody>
          <a:bodyPr wrap="square" lIns="0" tIns="0" rIns="0" bIns="0" rtlCol="0" anchor="ctr"/>
          <a:lstStyle/>
          <a:p>
            <a:pPr algn="ctr" indent="0" marL="0">
              <a:buNone/>
            </a:pPr>
            <a:r>
              <a:rPr lang="en-US" sz="2400" b="1" dirty="0">
                <a:solidFill>
                  <a:srgbClr val="FFFFFF"/>
                </a:solidFill>
              </a:rPr>
              <a:t>4</a:t>
            </a:r>
            <a:endParaRPr lang="en-US" sz="2400" dirty="0"/>
          </a:p>
        </p:txBody>
      </p:sp>
      <p:sp>
        <p:nvSpPr>
          <p:cNvPr id="19" name="Text 17"/>
          <p:cNvSpPr/>
          <p:nvPr/>
        </p:nvSpPr>
        <p:spPr>
          <a:xfrm>
            <a:off x="7982712" y="2121408"/>
            <a:ext cx="960120" cy="228600"/>
          </a:xfrm>
          <a:prstGeom prst="rect">
            <a:avLst/>
          </a:prstGeom>
          <a:noFill/>
          <a:ln/>
        </p:spPr>
        <p:txBody>
          <a:bodyPr wrap="square" lIns="0" tIns="0" rIns="0" bIns="0" rtlCol="0" anchor="ctr"/>
          <a:lstStyle/>
          <a:p>
            <a:pPr indent="0" marL="0">
              <a:buNone/>
            </a:pPr>
            <a:r>
              <a:rPr lang="en-US" sz="1300" b="1" dirty="0">
                <a:solidFill>
                  <a:srgbClr val="FFFFFF"/>
                </a:solidFill>
              </a:rPr>
              <a:t>Mượn/đọc</a:t>
            </a:r>
            <a:endParaRPr lang="en-US" sz="1300" dirty="0"/>
          </a:p>
        </p:txBody>
      </p:sp>
      <p:sp>
        <p:nvSpPr>
          <p:cNvPr id="20" name="Text 18"/>
          <p:cNvSpPr/>
          <p:nvPr/>
        </p:nvSpPr>
        <p:spPr>
          <a:xfrm>
            <a:off x="7360920" y="3337560"/>
            <a:ext cx="1920240" cy="822960"/>
          </a:xfrm>
          <a:prstGeom prst="rect">
            <a:avLst/>
          </a:prstGeom>
          <a:noFill/>
          <a:ln/>
        </p:spPr>
        <p:txBody>
          <a:bodyPr wrap="square" lIns="254" tIns="254" rIns="254" bIns="254" rtlCol="0" anchor="ctr">
            <a:normAutofit/>
          </a:bodyPr>
          <a:lstStyle/>
          <a:p>
            <a:pPr algn="ctr" indent="0" marL="0">
              <a:buNone/>
            </a:pPr>
            <a:r>
              <a:rPr lang="en-US" sz="1200" dirty="0">
                <a:solidFill>
                  <a:srgbClr val="52616B"/>
                </a:solidFill>
              </a:rPr>
              <a:t>Người dùng đặt mượn sách giấy hoặc mở tài liệu số.</a:t>
            </a:r>
            <a:endParaRPr lang="en-US" sz="1200" dirty="0"/>
          </a:p>
        </p:txBody>
      </p:sp>
      <p:sp>
        <p:nvSpPr>
          <p:cNvPr id="21" name="Shape 19"/>
          <p:cNvSpPr/>
          <p:nvPr/>
        </p:nvSpPr>
        <p:spPr>
          <a:xfrm>
            <a:off x="9646920" y="1874520"/>
            <a:ext cx="1828800" cy="1143000"/>
          </a:xfrm>
          <a:prstGeom prst="chevron">
            <a:avLst/>
          </a:prstGeom>
          <a:solidFill>
            <a:srgbClr val="2B6CB0"/>
          </a:solidFill>
          <a:ln w="12700">
            <a:solidFill>
              <a:srgbClr val="FFFFFF"/>
            </a:solidFill>
            <a:prstDash val="solid"/>
          </a:ln>
        </p:spPr>
      </p:sp>
      <p:sp>
        <p:nvSpPr>
          <p:cNvPr id="22" name="Text 20"/>
          <p:cNvSpPr/>
          <p:nvPr/>
        </p:nvSpPr>
        <p:spPr>
          <a:xfrm>
            <a:off x="9738360" y="2148840"/>
            <a:ext cx="457200" cy="274320"/>
          </a:xfrm>
          <a:prstGeom prst="rect">
            <a:avLst/>
          </a:prstGeom>
          <a:noFill/>
          <a:ln/>
        </p:spPr>
        <p:txBody>
          <a:bodyPr wrap="square" lIns="0" tIns="0" rIns="0" bIns="0" rtlCol="0" anchor="ctr"/>
          <a:lstStyle/>
          <a:p>
            <a:pPr algn="ctr" indent="0" marL="0">
              <a:buNone/>
            </a:pPr>
            <a:r>
              <a:rPr lang="en-US" sz="2400" b="1" dirty="0">
                <a:solidFill>
                  <a:srgbClr val="FFFFFF"/>
                </a:solidFill>
              </a:rPr>
              <a:t>5</a:t>
            </a:r>
            <a:endParaRPr lang="en-US" sz="2400" dirty="0"/>
          </a:p>
        </p:txBody>
      </p:sp>
      <p:sp>
        <p:nvSpPr>
          <p:cNvPr id="23" name="Text 21"/>
          <p:cNvSpPr/>
          <p:nvPr/>
        </p:nvSpPr>
        <p:spPr>
          <a:xfrm>
            <a:off x="10222992" y="2121408"/>
            <a:ext cx="960120" cy="228600"/>
          </a:xfrm>
          <a:prstGeom prst="rect">
            <a:avLst/>
          </a:prstGeom>
          <a:noFill/>
          <a:ln/>
        </p:spPr>
        <p:txBody>
          <a:bodyPr wrap="square" lIns="0" tIns="0" rIns="0" bIns="0" rtlCol="0" anchor="ctr"/>
          <a:lstStyle/>
          <a:p>
            <a:pPr indent="0" marL="0">
              <a:buNone/>
            </a:pPr>
            <a:r>
              <a:rPr lang="en-US" sz="1300" b="1" dirty="0">
                <a:solidFill>
                  <a:srgbClr val="FFFFFF"/>
                </a:solidFill>
              </a:rPr>
              <a:t>Theo dõi</a:t>
            </a:r>
            <a:endParaRPr lang="en-US" sz="1300" dirty="0"/>
          </a:p>
        </p:txBody>
      </p:sp>
      <p:sp>
        <p:nvSpPr>
          <p:cNvPr id="24" name="Text 22"/>
          <p:cNvSpPr/>
          <p:nvPr/>
        </p:nvSpPr>
        <p:spPr>
          <a:xfrm>
            <a:off x="9601200" y="3337560"/>
            <a:ext cx="1920240" cy="822960"/>
          </a:xfrm>
          <a:prstGeom prst="rect">
            <a:avLst/>
          </a:prstGeom>
          <a:noFill/>
          <a:ln/>
        </p:spPr>
        <p:txBody>
          <a:bodyPr wrap="square" lIns="254" tIns="254" rIns="254" bIns="254" rtlCol="0" anchor="ctr">
            <a:normAutofit/>
          </a:bodyPr>
          <a:lstStyle/>
          <a:p>
            <a:pPr algn="ctr" indent="0" marL="0">
              <a:buNone/>
            </a:pPr>
            <a:r>
              <a:rPr lang="en-US" sz="1200" dirty="0">
                <a:solidFill>
                  <a:srgbClr val="52616B"/>
                </a:solidFill>
              </a:rPr>
              <a:t>Hệ thống nhắc hạn trả và ghi nhận hành vi đọc.</a:t>
            </a:r>
            <a:endParaRPr lang="en-US" sz="1200" dirty="0"/>
          </a:p>
        </p:txBody>
      </p:sp>
      <p:sp>
        <p:nvSpPr>
          <p:cNvPr id="25" name="Text 23"/>
          <p:cNvSpPr/>
          <p:nvPr/>
        </p:nvSpPr>
        <p:spPr>
          <a:xfrm>
            <a:off x="914400" y="4846320"/>
            <a:ext cx="10332720" cy="685800"/>
          </a:xfrm>
          <a:prstGeom prst="rect">
            <a:avLst/>
          </a:prstGeom>
          <a:noFill/>
          <a:ln/>
        </p:spPr>
        <p:txBody>
          <a:bodyPr wrap="square" lIns="381" tIns="381" rIns="381" bIns="381" rtlCol="0" anchor="ctr">
            <a:normAutofit/>
          </a:bodyPr>
          <a:lstStyle/>
          <a:p>
            <a:pPr algn="ctr" indent="0" marL="0">
              <a:buNone/>
            </a:pPr>
            <a:r>
              <a:rPr lang="en-US" sz="1500" dirty="0">
                <a:solidFill>
                  <a:srgbClr val="18324A"/>
                </a:solidFill>
              </a:rPr>
              <a:t>Luồng này giúp kiểm thử file PPTX vì mỗi bước có tiêu đề, mô tả và vị trí trực quan riêng. Khi hệ thống AI đọc slide, nó nên trả lời được thứ tự bước, vai trò người dùng và mục đích của từng thao tác.</a:t>
            </a:r>
            <a:endParaRPr lang="en-US" sz="1500" dirty="0"/>
          </a:p>
        </p:txBody>
      </p:sp>
      <p:sp>
        <p:nvSpPr>
          <p:cNvPr id="26" name="Text 24"/>
          <p:cNvSpPr/>
          <p:nvPr/>
        </p:nvSpPr>
        <p:spPr>
          <a:xfrm>
            <a:off x="9921240" y="6446520"/>
            <a:ext cx="1645920" cy="182880"/>
          </a:xfrm>
          <a:prstGeom prst="rect">
            <a:avLst/>
          </a:prstGeom>
          <a:noFill/>
          <a:ln/>
        </p:spPr>
        <p:txBody>
          <a:bodyPr wrap="square" lIns="0" tIns="0" rIns="0" bIns="0" rtlCol="0" anchor="ctr"/>
          <a:lstStyle/>
          <a:p>
            <a:pPr algn="r" indent="0" marL="0">
              <a:buNone/>
            </a:pPr>
            <a:r>
              <a:rPr lang="en-US" sz="800" dirty="0">
                <a:solidFill>
                  <a:srgbClr val="7B8794"/>
                </a:solidFill>
              </a:rPr>
              <a:t>File PPTX mẫu • 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2B6CB0"/>
                </a:solidFill>
                <a:latin typeface="Aptos" pitchFamily="34" charset="0"/>
                <a:ea typeface="Aptos" pitchFamily="34" charset="-122"/>
                <a:cs typeface="Aptos" pitchFamily="34" charset="-120"/>
              </a:rPr>
              <a:t>NỘI DUNG MẪU</a:t>
            </a:r>
            <a:endParaRPr lang="en-US" sz="850" dirty="0"/>
          </a:p>
        </p:txBody>
      </p:sp>
      <p:sp>
        <p:nvSpPr>
          <p:cNvPr id="3" name="Text 1"/>
          <p:cNvSpPr/>
          <p:nvPr/>
        </p:nvSpPr>
        <p:spPr>
          <a:xfrm>
            <a:off x="502920" y="548640"/>
            <a:ext cx="7132320" cy="502920"/>
          </a:xfrm>
          <a:prstGeom prst="rect">
            <a:avLst/>
          </a:prstGeom>
          <a:noFill/>
          <a:ln/>
        </p:spPr>
        <p:txBody>
          <a:bodyPr wrap="square" lIns="0" tIns="0" rIns="0" bIns="0" rtlCol="0" anchor="ctr"/>
          <a:lstStyle/>
          <a:p>
            <a:pPr indent="0" marL="0">
              <a:buNone/>
            </a:pPr>
            <a:r>
              <a:rPr lang="en-US" sz="2600" b="1" dirty="0">
                <a:solidFill>
                  <a:srgbClr val="18324A"/>
                </a:solidFill>
                <a:latin typeface="Aptos Display" pitchFamily="34" charset="0"/>
                <a:ea typeface="Aptos Display" pitchFamily="34" charset="-122"/>
                <a:cs typeface="Aptos Display" pitchFamily="34" charset="-120"/>
              </a:rPr>
              <a:t>Dữ liệu cần quản lý</a:t>
            </a:r>
            <a:endParaRPr lang="en-US" sz="2600" dirty="0"/>
          </a:p>
        </p:txBody>
      </p:sp>
      <p:sp>
        <p:nvSpPr>
          <p:cNvPr id="4" name="Shape 2"/>
          <p:cNvSpPr/>
          <p:nvPr/>
        </p:nvSpPr>
        <p:spPr>
          <a:xfrm>
            <a:off x="502920" y="1143000"/>
            <a:ext cx="11064240" cy="0"/>
          </a:xfrm>
          <a:prstGeom prst="line">
            <a:avLst/>
          </a:prstGeom>
          <a:noFill/>
          <a:ln w="12700">
            <a:solidFill>
              <a:srgbClr val="CAD7E3"/>
            </a:solidFill>
            <a:prstDash val="solid"/>
          </a:ln>
        </p:spPr>
      </p:sp>
      <p:sp>
        <p:nvSpPr>
          <p:cNvPr id="5" name="Shape 3"/>
          <p:cNvSpPr/>
          <p:nvPr/>
        </p:nvSpPr>
        <p:spPr>
          <a:xfrm>
            <a:off x="685800" y="1508760"/>
            <a:ext cx="10744200" cy="566928"/>
          </a:xfrm>
          <a:prstGeom prst="rect">
            <a:avLst/>
          </a:prstGeom>
          <a:solidFill>
            <a:srgbClr val="D9EAF7"/>
          </a:solidFill>
          <a:ln w="7620">
            <a:solidFill>
              <a:srgbClr val="C9D6E2"/>
            </a:solidFill>
            <a:prstDash val="solid"/>
          </a:ln>
        </p:spPr>
      </p:sp>
      <p:sp>
        <p:nvSpPr>
          <p:cNvPr id="6" name="Text 4"/>
          <p:cNvSpPr/>
          <p:nvPr/>
        </p:nvSpPr>
        <p:spPr>
          <a:xfrm>
            <a:off x="777240" y="1627632"/>
            <a:ext cx="1691640" cy="219456"/>
          </a:xfrm>
          <a:prstGeom prst="rect">
            <a:avLst/>
          </a:prstGeom>
          <a:noFill/>
          <a:ln/>
        </p:spPr>
        <p:txBody>
          <a:bodyPr wrap="square" lIns="0" tIns="0" rIns="0" bIns="0" rtlCol="0" anchor="ctr">
            <a:normAutofit/>
          </a:bodyPr>
          <a:lstStyle/>
          <a:p>
            <a:pPr indent="0" marL="0">
              <a:buNone/>
            </a:pPr>
            <a:r>
              <a:rPr lang="en-US" sz="1150" b="1" dirty="0">
                <a:solidFill>
                  <a:srgbClr val="18324A"/>
                </a:solidFill>
              </a:rPr>
              <a:t>Nhóm dữ liệu</a:t>
            </a:r>
            <a:endParaRPr lang="en-US" sz="1150" dirty="0"/>
          </a:p>
        </p:txBody>
      </p:sp>
      <p:sp>
        <p:nvSpPr>
          <p:cNvPr id="7" name="Text 5"/>
          <p:cNvSpPr/>
          <p:nvPr/>
        </p:nvSpPr>
        <p:spPr>
          <a:xfrm>
            <a:off x="2788920" y="1627632"/>
            <a:ext cx="3794760" cy="219456"/>
          </a:xfrm>
          <a:prstGeom prst="rect">
            <a:avLst/>
          </a:prstGeom>
          <a:noFill/>
          <a:ln/>
        </p:spPr>
        <p:txBody>
          <a:bodyPr wrap="square" lIns="0" tIns="0" rIns="0" bIns="0" rtlCol="0" anchor="ctr">
            <a:normAutofit/>
          </a:bodyPr>
          <a:lstStyle/>
          <a:p>
            <a:pPr indent="0" marL="0">
              <a:buNone/>
            </a:pPr>
            <a:r>
              <a:rPr lang="en-US" sz="1150" b="1" dirty="0">
                <a:solidFill>
                  <a:srgbClr val="18324A"/>
                </a:solidFill>
              </a:rPr>
              <a:t>Ví dụ</a:t>
            </a:r>
            <a:endParaRPr lang="en-US" sz="1150" dirty="0"/>
          </a:p>
        </p:txBody>
      </p:sp>
      <p:sp>
        <p:nvSpPr>
          <p:cNvPr id="8" name="Text 6"/>
          <p:cNvSpPr/>
          <p:nvPr/>
        </p:nvSpPr>
        <p:spPr>
          <a:xfrm>
            <a:off x="6995160" y="1627632"/>
            <a:ext cx="4206240" cy="219456"/>
          </a:xfrm>
          <a:prstGeom prst="rect">
            <a:avLst/>
          </a:prstGeom>
          <a:noFill/>
          <a:ln/>
        </p:spPr>
        <p:txBody>
          <a:bodyPr wrap="square" lIns="0" tIns="0" rIns="0" bIns="0" rtlCol="0" anchor="ctr">
            <a:normAutofit/>
          </a:bodyPr>
          <a:lstStyle/>
          <a:p>
            <a:pPr indent="0" marL="0">
              <a:buNone/>
            </a:pPr>
            <a:r>
              <a:rPr lang="en-US" sz="1150" b="1" dirty="0">
                <a:solidFill>
                  <a:srgbClr val="18324A"/>
                </a:solidFill>
              </a:rPr>
              <a:t>Mục đích sử dụng</a:t>
            </a:r>
            <a:endParaRPr lang="en-US" sz="1150" dirty="0"/>
          </a:p>
        </p:txBody>
      </p:sp>
      <p:sp>
        <p:nvSpPr>
          <p:cNvPr id="9" name="Shape 7"/>
          <p:cNvSpPr/>
          <p:nvPr/>
        </p:nvSpPr>
        <p:spPr>
          <a:xfrm>
            <a:off x="685800" y="2075688"/>
            <a:ext cx="10744200" cy="566928"/>
          </a:xfrm>
          <a:prstGeom prst="rect">
            <a:avLst/>
          </a:prstGeom>
          <a:solidFill>
            <a:srgbClr val="FFFFFF"/>
          </a:solidFill>
          <a:ln w="7620">
            <a:solidFill>
              <a:srgbClr val="C9D6E2"/>
            </a:solidFill>
            <a:prstDash val="solid"/>
          </a:ln>
        </p:spPr>
      </p:sp>
      <p:sp>
        <p:nvSpPr>
          <p:cNvPr id="10" name="Text 8"/>
          <p:cNvSpPr/>
          <p:nvPr/>
        </p:nvSpPr>
        <p:spPr>
          <a:xfrm>
            <a:off x="777240" y="2194560"/>
            <a:ext cx="1691640" cy="219456"/>
          </a:xfrm>
          <a:prstGeom prst="rect">
            <a:avLst/>
          </a:prstGeom>
          <a:noFill/>
          <a:ln/>
        </p:spPr>
        <p:txBody>
          <a:bodyPr wrap="square" lIns="0" tIns="0" rIns="0" bIns="0" rtlCol="0" anchor="ctr">
            <a:normAutofit/>
          </a:bodyPr>
          <a:lstStyle/>
          <a:p>
            <a:pPr indent="0" marL="0">
              <a:buNone/>
            </a:pPr>
            <a:r>
              <a:rPr lang="en-US" sz="1050" b="1" dirty="0">
                <a:solidFill>
                  <a:srgbClr val="52616B"/>
                </a:solidFill>
              </a:rPr>
              <a:t>Sách giấy</a:t>
            </a:r>
            <a:endParaRPr lang="en-US" sz="1050" dirty="0"/>
          </a:p>
        </p:txBody>
      </p:sp>
      <p:sp>
        <p:nvSpPr>
          <p:cNvPr id="11" name="Text 9"/>
          <p:cNvSpPr/>
          <p:nvPr/>
        </p:nvSpPr>
        <p:spPr>
          <a:xfrm>
            <a:off x="2788920" y="2194560"/>
            <a:ext cx="3794760" cy="219456"/>
          </a:xfrm>
          <a:prstGeom prst="rect">
            <a:avLst/>
          </a:prstGeom>
          <a:noFill/>
          <a:ln/>
        </p:spPr>
        <p:txBody>
          <a:bodyPr wrap="square" lIns="0" tIns="0" rIns="0" bIns="0" rtlCol="0" anchor="ctr">
            <a:normAutofit/>
          </a:bodyPr>
          <a:lstStyle/>
          <a:p>
            <a:pPr indent="0" marL="0">
              <a:buNone/>
            </a:pPr>
            <a:r>
              <a:rPr lang="en-US" sz="1050" dirty="0">
                <a:solidFill>
                  <a:srgbClr val="52616B"/>
                </a:solidFill>
              </a:rPr>
              <a:t>Mã sách, kệ, tình trạng, lượt mượn</a:t>
            </a:r>
            <a:endParaRPr lang="en-US" sz="1050" dirty="0"/>
          </a:p>
        </p:txBody>
      </p:sp>
      <p:sp>
        <p:nvSpPr>
          <p:cNvPr id="12" name="Text 10"/>
          <p:cNvSpPr/>
          <p:nvPr/>
        </p:nvSpPr>
        <p:spPr>
          <a:xfrm>
            <a:off x="6995160" y="2194560"/>
            <a:ext cx="4206240" cy="219456"/>
          </a:xfrm>
          <a:prstGeom prst="rect">
            <a:avLst/>
          </a:prstGeom>
          <a:noFill/>
          <a:ln/>
        </p:spPr>
        <p:txBody>
          <a:bodyPr wrap="square" lIns="0" tIns="0" rIns="0" bIns="0" rtlCol="0" anchor="ctr">
            <a:normAutofit/>
          </a:bodyPr>
          <a:lstStyle/>
          <a:p>
            <a:pPr indent="0" marL="0">
              <a:buNone/>
            </a:pPr>
            <a:r>
              <a:rPr lang="en-US" sz="1050" dirty="0">
                <a:solidFill>
                  <a:srgbClr val="52616B"/>
                </a:solidFill>
              </a:rPr>
              <a:t>Quản lý kho và vị trí</a:t>
            </a:r>
            <a:endParaRPr lang="en-US" sz="1050" dirty="0"/>
          </a:p>
        </p:txBody>
      </p:sp>
      <p:sp>
        <p:nvSpPr>
          <p:cNvPr id="13" name="Shape 11"/>
          <p:cNvSpPr/>
          <p:nvPr/>
        </p:nvSpPr>
        <p:spPr>
          <a:xfrm>
            <a:off x="685800" y="2642616"/>
            <a:ext cx="10744200" cy="566928"/>
          </a:xfrm>
          <a:prstGeom prst="rect">
            <a:avLst/>
          </a:prstGeom>
          <a:solidFill>
            <a:srgbClr val="F4F8FB"/>
          </a:solidFill>
          <a:ln w="7620">
            <a:solidFill>
              <a:srgbClr val="C9D6E2"/>
            </a:solidFill>
            <a:prstDash val="solid"/>
          </a:ln>
        </p:spPr>
      </p:sp>
      <p:sp>
        <p:nvSpPr>
          <p:cNvPr id="14" name="Text 12"/>
          <p:cNvSpPr/>
          <p:nvPr/>
        </p:nvSpPr>
        <p:spPr>
          <a:xfrm>
            <a:off x="777240" y="2761488"/>
            <a:ext cx="1691640" cy="219456"/>
          </a:xfrm>
          <a:prstGeom prst="rect">
            <a:avLst/>
          </a:prstGeom>
          <a:noFill/>
          <a:ln/>
        </p:spPr>
        <p:txBody>
          <a:bodyPr wrap="square" lIns="0" tIns="0" rIns="0" bIns="0" rtlCol="0" anchor="ctr">
            <a:normAutofit/>
          </a:bodyPr>
          <a:lstStyle/>
          <a:p>
            <a:pPr indent="0" marL="0">
              <a:buNone/>
            </a:pPr>
            <a:r>
              <a:rPr lang="en-US" sz="1050" b="1" dirty="0">
                <a:solidFill>
                  <a:srgbClr val="52616B"/>
                </a:solidFill>
              </a:rPr>
              <a:t>Tài liệu số</a:t>
            </a:r>
            <a:endParaRPr lang="en-US" sz="1050" dirty="0"/>
          </a:p>
        </p:txBody>
      </p:sp>
      <p:sp>
        <p:nvSpPr>
          <p:cNvPr id="15" name="Text 13"/>
          <p:cNvSpPr/>
          <p:nvPr/>
        </p:nvSpPr>
        <p:spPr>
          <a:xfrm>
            <a:off x="2788920" y="2761488"/>
            <a:ext cx="3794760" cy="219456"/>
          </a:xfrm>
          <a:prstGeom prst="rect">
            <a:avLst/>
          </a:prstGeom>
          <a:noFill/>
          <a:ln/>
        </p:spPr>
        <p:txBody>
          <a:bodyPr wrap="square" lIns="0" tIns="0" rIns="0" bIns="0" rtlCol="0" anchor="ctr">
            <a:normAutofit/>
          </a:bodyPr>
          <a:lstStyle/>
          <a:p>
            <a:pPr indent="0" marL="0">
              <a:buNone/>
            </a:pPr>
            <a:r>
              <a:rPr lang="en-US" sz="1050" dirty="0">
                <a:solidFill>
                  <a:srgbClr val="52616B"/>
                </a:solidFill>
              </a:rPr>
              <a:t>PDF, bài giảng, video, đường dẫn</a:t>
            </a:r>
            <a:endParaRPr lang="en-US" sz="1050" dirty="0"/>
          </a:p>
        </p:txBody>
      </p:sp>
      <p:sp>
        <p:nvSpPr>
          <p:cNvPr id="16" name="Text 14"/>
          <p:cNvSpPr/>
          <p:nvPr/>
        </p:nvSpPr>
        <p:spPr>
          <a:xfrm>
            <a:off x="6995160" y="2761488"/>
            <a:ext cx="4206240" cy="219456"/>
          </a:xfrm>
          <a:prstGeom prst="rect">
            <a:avLst/>
          </a:prstGeom>
          <a:noFill/>
          <a:ln/>
        </p:spPr>
        <p:txBody>
          <a:bodyPr wrap="square" lIns="0" tIns="0" rIns="0" bIns="0" rtlCol="0" anchor="ctr">
            <a:normAutofit/>
          </a:bodyPr>
          <a:lstStyle/>
          <a:p>
            <a:pPr indent="0" marL="0">
              <a:buNone/>
            </a:pPr>
            <a:r>
              <a:rPr lang="en-US" sz="1050" dirty="0">
                <a:solidFill>
                  <a:srgbClr val="52616B"/>
                </a:solidFill>
              </a:rPr>
              <a:t>Tìm kiếm và học trực tuyến</a:t>
            </a:r>
            <a:endParaRPr lang="en-US" sz="1050" dirty="0"/>
          </a:p>
        </p:txBody>
      </p:sp>
      <p:sp>
        <p:nvSpPr>
          <p:cNvPr id="17" name="Shape 15"/>
          <p:cNvSpPr/>
          <p:nvPr/>
        </p:nvSpPr>
        <p:spPr>
          <a:xfrm>
            <a:off x="685800" y="3209544"/>
            <a:ext cx="10744200" cy="566928"/>
          </a:xfrm>
          <a:prstGeom prst="rect">
            <a:avLst/>
          </a:prstGeom>
          <a:solidFill>
            <a:srgbClr val="FFFFFF"/>
          </a:solidFill>
          <a:ln w="7620">
            <a:solidFill>
              <a:srgbClr val="C9D6E2"/>
            </a:solidFill>
            <a:prstDash val="solid"/>
          </a:ln>
        </p:spPr>
      </p:sp>
      <p:sp>
        <p:nvSpPr>
          <p:cNvPr id="18" name="Text 16"/>
          <p:cNvSpPr/>
          <p:nvPr/>
        </p:nvSpPr>
        <p:spPr>
          <a:xfrm>
            <a:off x="777240" y="3328416"/>
            <a:ext cx="1691640" cy="219456"/>
          </a:xfrm>
          <a:prstGeom prst="rect">
            <a:avLst/>
          </a:prstGeom>
          <a:noFill/>
          <a:ln/>
        </p:spPr>
        <p:txBody>
          <a:bodyPr wrap="square" lIns="0" tIns="0" rIns="0" bIns="0" rtlCol="0" anchor="ctr">
            <a:normAutofit/>
          </a:bodyPr>
          <a:lstStyle/>
          <a:p>
            <a:pPr indent="0" marL="0">
              <a:buNone/>
            </a:pPr>
            <a:r>
              <a:rPr lang="en-US" sz="1050" b="1" dirty="0">
                <a:solidFill>
                  <a:srgbClr val="52616B"/>
                </a:solidFill>
              </a:rPr>
              <a:t>Người dùng</a:t>
            </a:r>
            <a:endParaRPr lang="en-US" sz="1050" dirty="0"/>
          </a:p>
        </p:txBody>
      </p:sp>
      <p:sp>
        <p:nvSpPr>
          <p:cNvPr id="19" name="Text 17"/>
          <p:cNvSpPr/>
          <p:nvPr/>
        </p:nvSpPr>
        <p:spPr>
          <a:xfrm>
            <a:off x="2788920" y="3328416"/>
            <a:ext cx="3794760" cy="219456"/>
          </a:xfrm>
          <a:prstGeom prst="rect">
            <a:avLst/>
          </a:prstGeom>
          <a:noFill/>
          <a:ln/>
        </p:spPr>
        <p:txBody>
          <a:bodyPr wrap="square" lIns="0" tIns="0" rIns="0" bIns="0" rtlCol="0" anchor="ctr">
            <a:normAutofit/>
          </a:bodyPr>
          <a:lstStyle/>
          <a:p>
            <a:pPr indent="0" marL="0">
              <a:buNone/>
            </a:pPr>
            <a:r>
              <a:rPr lang="en-US" sz="1050" dirty="0">
                <a:solidFill>
                  <a:srgbClr val="52616B"/>
                </a:solidFill>
              </a:rPr>
              <a:t>Lớp, vai trò, lịch sử mượn</a:t>
            </a:r>
            <a:endParaRPr lang="en-US" sz="1050" dirty="0"/>
          </a:p>
        </p:txBody>
      </p:sp>
      <p:sp>
        <p:nvSpPr>
          <p:cNvPr id="20" name="Text 18"/>
          <p:cNvSpPr/>
          <p:nvPr/>
        </p:nvSpPr>
        <p:spPr>
          <a:xfrm>
            <a:off x="6995160" y="3328416"/>
            <a:ext cx="4206240" cy="219456"/>
          </a:xfrm>
          <a:prstGeom prst="rect">
            <a:avLst/>
          </a:prstGeom>
          <a:noFill/>
          <a:ln/>
        </p:spPr>
        <p:txBody>
          <a:bodyPr wrap="square" lIns="0" tIns="0" rIns="0" bIns="0" rtlCol="0" anchor="ctr">
            <a:normAutofit/>
          </a:bodyPr>
          <a:lstStyle/>
          <a:p>
            <a:pPr indent="0" marL="0">
              <a:buNone/>
            </a:pPr>
            <a:r>
              <a:rPr lang="en-US" sz="1050" dirty="0">
                <a:solidFill>
                  <a:srgbClr val="52616B"/>
                </a:solidFill>
              </a:rPr>
              <a:t>Cá nhân hóa gợi ý</a:t>
            </a:r>
            <a:endParaRPr lang="en-US" sz="1050" dirty="0"/>
          </a:p>
        </p:txBody>
      </p:sp>
      <p:sp>
        <p:nvSpPr>
          <p:cNvPr id="21" name="Shape 19"/>
          <p:cNvSpPr/>
          <p:nvPr/>
        </p:nvSpPr>
        <p:spPr>
          <a:xfrm>
            <a:off x="685800" y="3776472"/>
            <a:ext cx="10744200" cy="566928"/>
          </a:xfrm>
          <a:prstGeom prst="rect">
            <a:avLst/>
          </a:prstGeom>
          <a:solidFill>
            <a:srgbClr val="F4F8FB"/>
          </a:solidFill>
          <a:ln w="7620">
            <a:solidFill>
              <a:srgbClr val="C9D6E2"/>
            </a:solidFill>
            <a:prstDash val="solid"/>
          </a:ln>
        </p:spPr>
      </p:sp>
      <p:sp>
        <p:nvSpPr>
          <p:cNvPr id="22" name="Text 20"/>
          <p:cNvSpPr/>
          <p:nvPr/>
        </p:nvSpPr>
        <p:spPr>
          <a:xfrm>
            <a:off x="777240" y="3895344"/>
            <a:ext cx="1691640" cy="219456"/>
          </a:xfrm>
          <a:prstGeom prst="rect">
            <a:avLst/>
          </a:prstGeom>
          <a:noFill/>
          <a:ln/>
        </p:spPr>
        <p:txBody>
          <a:bodyPr wrap="square" lIns="0" tIns="0" rIns="0" bIns="0" rtlCol="0" anchor="ctr">
            <a:normAutofit/>
          </a:bodyPr>
          <a:lstStyle/>
          <a:p>
            <a:pPr indent="0" marL="0">
              <a:buNone/>
            </a:pPr>
            <a:r>
              <a:rPr lang="en-US" sz="1050" b="1" dirty="0">
                <a:solidFill>
                  <a:srgbClr val="52616B"/>
                </a:solidFill>
              </a:rPr>
              <a:t>Giao dịch</a:t>
            </a:r>
            <a:endParaRPr lang="en-US" sz="1050" dirty="0"/>
          </a:p>
        </p:txBody>
      </p:sp>
      <p:sp>
        <p:nvSpPr>
          <p:cNvPr id="23" name="Text 21"/>
          <p:cNvSpPr/>
          <p:nvPr/>
        </p:nvSpPr>
        <p:spPr>
          <a:xfrm>
            <a:off x="2788920" y="3895344"/>
            <a:ext cx="3794760" cy="219456"/>
          </a:xfrm>
          <a:prstGeom prst="rect">
            <a:avLst/>
          </a:prstGeom>
          <a:noFill/>
          <a:ln/>
        </p:spPr>
        <p:txBody>
          <a:bodyPr wrap="square" lIns="0" tIns="0" rIns="0" bIns="0" rtlCol="0" anchor="ctr">
            <a:normAutofit/>
          </a:bodyPr>
          <a:lstStyle/>
          <a:p>
            <a:pPr indent="0" marL="0">
              <a:buNone/>
            </a:pPr>
            <a:r>
              <a:rPr lang="en-US" sz="1050" dirty="0">
                <a:solidFill>
                  <a:srgbClr val="52616B"/>
                </a:solidFill>
              </a:rPr>
              <a:t>Ngày mượn, hạn trả, quá hạn</a:t>
            </a:r>
            <a:endParaRPr lang="en-US" sz="1050" dirty="0"/>
          </a:p>
        </p:txBody>
      </p:sp>
      <p:sp>
        <p:nvSpPr>
          <p:cNvPr id="24" name="Text 22"/>
          <p:cNvSpPr/>
          <p:nvPr/>
        </p:nvSpPr>
        <p:spPr>
          <a:xfrm>
            <a:off x="6995160" y="3895344"/>
            <a:ext cx="4206240" cy="219456"/>
          </a:xfrm>
          <a:prstGeom prst="rect">
            <a:avLst/>
          </a:prstGeom>
          <a:noFill/>
          <a:ln/>
        </p:spPr>
        <p:txBody>
          <a:bodyPr wrap="square" lIns="0" tIns="0" rIns="0" bIns="0" rtlCol="0" anchor="ctr">
            <a:normAutofit/>
          </a:bodyPr>
          <a:lstStyle/>
          <a:p>
            <a:pPr indent="0" marL="0">
              <a:buNone/>
            </a:pPr>
            <a:r>
              <a:rPr lang="en-US" sz="1050" dirty="0">
                <a:solidFill>
                  <a:srgbClr val="52616B"/>
                </a:solidFill>
              </a:rPr>
              <a:t>Theo dõi vận hành</a:t>
            </a:r>
            <a:endParaRPr lang="en-US" sz="1050" dirty="0"/>
          </a:p>
        </p:txBody>
      </p:sp>
      <p:sp>
        <p:nvSpPr>
          <p:cNvPr id="25" name="Shape 23"/>
          <p:cNvSpPr/>
          <p:nvPr/>
        </p:nvSpPr>
        <p:spPr>
          <a:xfrm>
            <a:off x="685800" y="4343400"/>
            <a:ext cx="10744200" cy="566928"/>
          </a:xfrm>
          <a:prstGeom prst="rect">
            <a:avLst/>
          </a:prstGeom>
          <a:solidFill>
            <a:srgbClr val="FFFFFF"/>
          </a:solidFill>
          <a:ln w="7620">
            <a:solidFill>
              <a:srgbClr val="C9D6E2"/>
            </a:solidFill>
            <a:prstDash val="solid"/>
          </a:ln>
        </p:spPr>
      </p:sp>
      <p:sp>
        <p:nvSpPr>
          <p:cNvPr id="26" name="Text 24"/>
          <p:cNvSpPr/>
          <p:nvPr/>
        </p:nvSpPr>
        <p:spPr>
          <a:xfrm>
            <a:off x="777240" y="4462272"/>
            <a:ext cx="1691640" cy="219456"/>
          </a:xfrm>
          <a:prstGeom prst="rect">
            <a:avLst/>
          </a:prstGeom>
          <a:noFill/>
          <a:ln/>
        </p:spPr>
        <p:txBody>
          <a:bodyPr wrap="square" lIns="0" tIns="0" rIns="0" bIns="0" rtlCol="0" anchor="ctr">
            <a:normAutofit/>
          </a:bodyPr>
          <a:lstStyle/>
          <a:p>
            <a:pPr indent="0" marL="0">
              <a:buNone/>
            </a:pPr>
            <a:r>
              <a:rPr lang="en-US" sz="1050" b="1" dirty="0">
                <a:solidFill>
                  <a:srgbClr val="52616B"/>
                </a:solidFill>
              </a:rPr>
              <a:t>Phản hồi</a:t>
            </a:r>
            <a:endParaRPr lang="en-US" sz="1050" dirty="0"/>
          </a:p>
        </p:txBody>
      </p:sp>
      <p:sp>
        <p:nvSpPr>
          <p:cNvPr id="27" name="Text 25"/>
          <p:cNvSpPr/>
          <p:nvPr/>
        </p:nvSpPr>
        <p:spPr>
          <a:xfrm>
            <a:off x="2788920" y="4462272"/>
            <a:ext cx="3794760" cy="219456"/>
          </a:xfrm>
          <a:prstGeom prst="rect">
            <a:avLst/>
          </a:prstGeom>
          <a:noFill/>
          <a:ln/>
        </p:spPr>
        <p:txBody>
          <a:bodyPr wrap="square" lIns="0" tIns="0" rIns="0" bIns="0" rtlCol="0" anchor="ctr">
            <a:normAutofit/>
          </a:bodyPr>
          <a:lstStyle/>
          <a:p>
            <a:pPr indent="0" marL="0">
              <a:buNone/>
            </a:pPr>
            <a:r>
              <a:rPr lang="en-US" sz="1050" dirty="0">
                <a:solidFill>
                  <a:srgbClr val="52616B"/>
                </a:solidFill>
              </a:rPr>
              <a:t>Đánh giá, nhận xét, đề xuất mua sách</a:t>
            </a:r>
            <a:endParaRPr lang="en-US" sz="1050" dirty="0"/>
          </a:p>
        </p:txBody>
      </p:sp>
      <p:sp>
        <p:nvSpPr>
          <p:cNvPr id="28" name="Text 26"/>
          <p:cNvSpPr/>
          <p:nvPr/>
        </p:nvSpPr>
        <p:spPr>
          <a:xfrm>
            <a:off x="6995160" y="4462272"/>
            <a:ext cx="4206240" cy="219456"/>
          </a:xfrm>
          <a:prstGeom prst="rect">
            <a:avLst/>
          </a:prstGeom>
          <a:noFill/>
          <a:ln/>
        </p:spPr>
        <p:txBody>
          <a:bodyPr wrap="square" lIns="0" tIns="0" rIns="0" bIns="0" rtlCol="0" anchor="ctr">
            <a:normAutofit/>
          </a:bodyPr>
          <a:lstStyle/>
          <a:p>
            <a:pPr indent="0" marL="0">
              <a:buNone/>
            </a:pPr>
            <a:r>
              <a:rPr lang="en-US" sz="1050" dirty="0">
                <a:solidFill>
                  <a:srgbClr val="52616B"/>
                </a:solidFill>
              </a:rPr>
              <a:t>Cải thiện chất lượng thư viện</a:t>
            </a:r>
            <a:endParaRPr lang="en-US" sz="1050" dirty="0"/>
          </a:p>
        </p:txBody>
      </p:sp>
      <p:sp>
        <p:nvSpPr>
          <p:cNvPr id="29" name="Text 27"/>
          <p:cNvSpPr/>
          <p:nvPr/>
        </p:nvSpPr>
        <p:spPr>
          <a:xfrm>
            <a:off x="822960" y="5715000"/>
            <a:ext cx="9875520" cy="292608"/>
          </a:xfrm>
          <a:prstGeom prst="rect">
            <a:avLst/>
          </a:prstGeom>
          <a:noFill/>
          <a:ln/>
        </p:spPr>
        <p:txBody>
          <a:bodyPr wrap="square" lIns="0" tIns="0" rIns="0" bIns="0" rtlCol="0" anchor="ctr"/>
          <a:lstStyle/>
          <a:p>
            <a:pPr indent="0" marL="0">
              <a:buNone/>
            </a:pPr>
            <a:r>
              <a:rPr lang="en-US" sz="1400" b="1" dirty="0">
                <a:solidFill>
                  <a:srgbClr val="2F855A"/>
                </a:solidFill>
              </a:rPr>
              <a:t>Ghi chú: dữ liệu càng chuẩn hóa thì khả năng tìm kiếm, thống kê và gợi ý càng chính xác.</a:t>
            </a:r>
            <a:endParaRPr lang="en-US" sz="1400" dirty="0"/>
          </a:p>
        </p:txBody>
      </p:sp>
      <p:sp>
        <p:nvSpPr>
          <p:cNvPr id="30" name="Text 28"/>
          <p:cNvSpPr/>
          <p:nvPr/>
        </p:nvSpPr>
        <p:spPr>
          <a:xfrm>
            <a:off x="9921240" y="6446520"/>
            <a:ext cx="1645920" cy="182880"/>
          </a:xfrm>
          <a:prstGeom prst="rect">
            <a:avLst/>
          </a:prstGeom>
          <a:noFill/>
          <a:ln/>
        </p:spPr>
        <p:txBody>
          <a:bodyPr wrap="square" lIns="0" tIns="0" rIns="0" bIns="0" rtlCol="0" anchor="ctr"/>
          <a:lstStyle/>
          <a:p>
            <a:pPr algn="r" indent="0" marL="0">
              <a:buNone/>
            </a:pPr>
            <a:r>
              <a:rPr lang="en-US" sz="800" dirty="0">
                <a:solidFill>
                  <a:srgbClr val="7B8794"/>
                </a:solidFill>
              </a:rPr>
              <a:t>File PPTX mẫu • 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2B6CB0"/>
                </a:solidFill>
                <a:latin typeface="Aptos" pitchFamily="34" charset="0"/>
                <a:ea typeface="Aptos" pitchFamily="34" charset="-122"/>
                <a:cs typeface="Aptos" pitchFamily="34" charset="-120"/>
              </a:rPr>
              <a:t>NỘI DUNG MẪU</a:t>
            </a:r>
            <a:endParaRPr lang="en-US" sz="850" dirty="0"/>
          </a:p>
        </p:txBody>
      </p:sp>
      <p:sp>
        <p:nvSpPr>
          <p:cNvPr id="3" name="Text 1"/>
          <p:cNvSpPr/>
          <p:nvPr/>
        </p:nvSpPr>
        <p:spPr>
          <a:xfrm>
            <a:off x="502920" y="548640"/>
            <a:ext cx="7132320" cy="502920"/>
          </a:xfrm>
          <a:prstGeom prst="rect">
            <a:avLst/>
          </a:prstGeom>
          <a:noFill/>
          <a:ln/>
        </p:spPr>
        <p:txBody>
          <a:bodyPr wrap="square" lIns="0" tIns="0" rIns="0" bIns="0" rtlCol="0" anchor="ctr"/>
          <a:lstStyle/>
          <a:p>
            <a:pPr indent="0" marL="0">
              <a:buNone/>
            </a:pPr>
            <a:r>
              <a:rPr lang="en-US" sz="2600" b="1" dirty="0">
                <a:solidFill>
                  <a:srgbClr val="18324A"/>
                </a:solidFill>
                <a:latin typeface="Aptos Display" pitchFamily="34" charset="0"/>
                <a:ea typeface="Aptos Display" pitchFamily="34" charset="-122"/>
                <a:cs typeface="Aptos Display" pitchFamily="34" charset="-120"/>
              </a:rPr>
              <a:t>KPI đánh giá hiệu quả sau triển khai</a:t>
            </a:r>
            <a:endParaRPr lang="en-US" sz="2600" dirty="0"/>
          </a:p>
        </p:txBody>
      </p:sp>
      <p:sp>
        <p:nvSpPr>
          <p:cNvPr id="4" name="Shape 2"/>
          <p:cNvSpPr/>
          <p:nvPr/>
        </p:nvSpPr>
        <p:spPr>
          <a:xfrm>
            <a:off x="502920" y="1143000"/>
            <a:ext cx="11064240" cy="0"/>
          </a:xfrm>
          <a:prstGeom prst="line">
            <a:avLst/>
          </a:prstGeom>
          <a:noFill/>
          <a:ln w="12700">
            <a:solidFill>
              <a:srgbClr val="CAD7E3"/>
            </a:solidFill>
            <a:prstDash val="solid"/>
          </a:ln>
        </p:spPr>
      </p:sp>
      <p:sp>
        <p:nvSpPr>
          <p:cNvPr id="5" name="Shape 3"/>
          <p:cNvSpPr/>
          <p:nvPr/>
        </p:nvSpPr>
        <p:spPr>
          <a:xfrm>
            <a:off x="731520" y="1691640"/>
            <a:ext cx="2240280" cy="1554480"/>
          </a:xfrm>
          <a:prstGeom prst="roundRect">
            <a:avLst>
              <a:gd name="adj" fmla="val 4706"/>
            </a:avLst>
          </a:prstGeom>
          <a:solidFill>
            <a:srgbClr val="FFFFFF"/>
          </a:solidFill>
          <a:ln w="12700">
            <a:solidFill>
              <a:srgbClr val="D6E1EA"/>
            </a:solidFill>
            <a:prstDash val="solid"/>
          </a:ln>
        </p:spPr>
      </p:sp>
      <p:sp>
        <p:nvSpPr>
          <p:cNvPr id="6" name="Text 4"/>
          <p:cNvSpPr/>
          <p:nvPr/>
        </p:nvSpPr>
        <p:spPr>
          <a:xfrm>
            <a:off x="914400" y="1993392"/>
            <a:ext cx="1828800" cy="457200"/>
          </a:xfrm>
          <a:prstGeom prst="rect">
            <a:avLst/>
          </a:prstGeom>
          <a:noFill/>
          <a:ln/>
        </p:spPr>
        <p:txBody>
          <a:bodyPr wrap="square" lIns="0" tIns="0" rIns="0" bIns="0" rtlCol="0" anchor="ctr"/>
          <a:lstStyle/>
          <a:p>
            <a:pPr algn="ctr" indent="0" marL="0">
              <a:buNone/>
            </a:pPr>
            <a:r>
              <a:rPr lang="en-US" sz="3200" b="1" dirty="0">
                <a:solidFill>
                  <a:srgbClr val="2B6CB0"/>
                </a:solidFill>
              </a:rPr>
              <a:t>65%</a:t>
            </a:r>
            <a:endParaRPr lang="en-US" sz="3200" dirty="0"/>
          </a:p>
        </p:txBody>
      </p:sp>
      <p:sp>
        <p:nvSpPr>
          <p:cNvPr id="7" name="Text 5"/>
          <p:cNvSpPr/>
          <p:nvPr/>
        </p:nvSpPr>
        <p:spPr>
          <a:xfrm>
            <a:off x="960120" y="2633472"/>
            <a:ext cx="1783080" cy="310896"/>
          </a:xfrm>
          <a:prstGeom prst="rect">
            <a:avLst/>
          </a:prstGeom>
          <a:noFill/>
          <a:ln/>
        </p:spPr>
        <p:txBody>
          <a:bodyPr wrap="square" lIns="254" tIns="254" rIns="254" bIns="254" rtlCol="0" anchor="ctr">
            <a:normAutofit/>
          </a:bodyPr>
          <a:lstStyle/>
          <a:p>
            <a:pPr algn="ctr" indent="0" marL="0">
              <a:buNone/>
            </a:pPr>
            <a:r>
              <a:rPr lang="en-US" sz="1150" dirty="0">
                <a:solidFill>
                  <a:srgbClr val="52616B"/>
                </a:solidFill>
              </a:rPr>
              <a:t>Giảm thời gian tra cứu sách</a:t>
            </a:r>
            <a:endParaRPr lang="en-US" sz="1150" dirty="0"/>
          </a:p>
        </p:txBody>
      </p:sp>
      <p:sp>
        <p:nvSpPr>
          <p:cNvPr id="8" name="Shape 6"/>
          <p:cNvSpPr/>
          <p:nvPr/>
        </p:nvSpPr>
        <p:spPr>
          <a:xfrm>
            <a:off x="3520440" y="1691640"/>
            <a:ext cx="2240280" cy="1554480"/>
          </a:xfrm>
          <a:prstGeom prst="roundRect">
            <a:avLst>
              <a:gd name="adj" fmla="val 4706"/>
            </a:avLst>
          </a:prstGeom>
          <a:solidFill>
            <a:srgbClr val="FFFFFF"/>
          </a:solidFill>
          <a:ln w="12700">
            <a:solidFill>
              <a:srgbClr val="D6E1EA"/>
            </a:solidFill>
            <a:prstDash val="solid"/>
          </a:ln>
        </p:spPr>
      </p:sp>
      <p:sp>
        <p:nvSpPr>
          <p:cNvPr id="9" name="Text 7"/>
          <p:cNvSpPr/>
          <p:nvPr/>
        </p:nvSpPr>
        <p:spPr>
          <a:xfrm>
            <a:off x="3703320" y="1993392"/>
            <a:ext cx="1828800" cy="457200"/>
          </a:xfrm>
          <a:prstGeom prst="rect">
            <a:avLst/>
          </a:prstGeom>
          <a:noFill/>
          <a:ln/>
        </p:spPr>
        <p:txBody>
          <a:bodyPr wrap="square" lIns="0" tIns="0" rIns="0" bIns="0" rtlCol="0" anchor="ctr"/>
          <a:lstStyle/>
          <a:p>
            <a:pPr algn="ctr" indent="0" marL="0">
              <a:buNone/>
            </a:pPr>
            <a:r>
              <a:rPr lang="en-US" sz="3200" b="1" dirty="0">
                <a:solidFill>
                  <a:srgbClr val="2F855A"/>
                </a:solidFill>
              </a:rPr>
              <a:t>40%</a:t>
            </a:r>
            <a:endParaRPr lang="en-US" sz="3200" dirty="0"/>
          </a:p>
        </p:txBody>
      </p:sp>
      <p:sp>
        <p:nvSpPr>
          <p:cNvPr id="10" name="Text 8"/>
          <p:cNvSpPr/>
          <p:nvPr/>
        </p:nvSpPr>
        <p:spPr>
          <a:xfrm>
            <a:off x="3749040" y="2633472"/>
            <a:ext cx="1783080" cy="310896"/>
          </a:xfrm>
          <a:prstGeom prst="rect">
            <a:avLst/>
          </a:prstGeom>
          <a:noFill/>
          <a:ln/>
        </p:spPr>
        <p:txBody>
          <a:bodyPr wrap="square" lIns="254" tIns="254" rIns="254" bIns="254" rtlCol="0" anchor="ctr">
            <a:normAutofit/>
          </a:bodyPr>
          <a:lstStyle/>
          <a:p>
            <a:pPr algn="ctr" indent="0" marL="0">
              <a:buNone/>
            </a:pPr>
            <a:r>
              <a:rPr lang="en-US" sz="1150" dirty="0">
                <a:solidFill>
                  <a:srgbClr val="52616B"/>
                </a:solidFill>
              </a:rPr>
              <a:t>Tăng lượt mượn tài liệu phù hợp</a:t>
            </a:r>
            <a:endParaRPr lang="en-US" sz="1150" dirty="0"/>
          </a:p>
        </p:txBody>
      </p:sp>
      <p:sp>
        <p:nvSpPr>
          <p:cNvPr id="11" name="Shape 9"/>
          <p:cNvSpPr/>
          <p:nvPr/>
        </p:nvSpPr>
        <p:spPr>
          <a:xfrm>
            <a:off x="6309360" y="1691640"/>
            <a:ext cx="2240280" cy="1554480"/>
          </a:xfrm>
          <a:prstGeom prst="roundRect">
            <a:avLst>
              <a:gd name="adj" fmla="val 4706"/>
            </a:avLst>
          </a:prstGeom>
          <a:solidFill>
            <a:srgbClr val="FFFFFF"/>
          </a:solidFill>
          <a:ln w="12700">
            <a:solidFill>
              <a:srgbClr val="D6E1EA"/>
            </a:solidFill>
            <a:prstDash val="solid"/>
          </a:ln>
        </p:spPr>
      </p:sp>
      <p:sp>
        <p:nvSpPr>
          <p:cNvPr id="12" name="Text 10"/>
          <p:cNvSpPr/>
          <p:nvPr/>
        </p:nvSpPr>
        <p:spPr>
          <a:xfrm>
            <a:off x="6492240" y="1993392"/>
            <a:ext cx="1828800" cy="457200"/>
          </a:xfrm>
          <a:prstGeom prst="rect">
            <a:avLst/>
          </a:prstGeom>
          <a:noFill/>
          <a:ln/>
        </p:spPr>
        <p:txBody>
          <a:bodyPr wrap="square" lIns="0" tIns="0" rIns="0" bIns="0" rtlCol="0" anchor="ctr"/>
          <a:lstStyle/>
          <a:p>
            <a:pPr algn="ctr" indent="0" marL="0">
              <a:buNone/>
            </a:pPr>
            <a:r>
              <a:rPr lang="en-US" sz="3200" b="1" dirty="0">
                <a:solidFill>
                  <a:srgbClr val="2B6CB0"/>
                </a:solidFill>
              </a:rPr>
              <a:t>80%</a:t>
            </a:r>
            <a:endParaRPr lang="en-US" sz="3200" dirty="0"/>
          </a:p>
        </p:txBody>
      </p:sp>
      <p:sp>
        <p:nvSpPr>
          <p:cNvPr id="13" name="Text 11"/>
          <p:cNvSpPr/>
          <p:nvPr/>
        </p:nvSpPr>
        <p:spPr>
          <a:xfrm>
            <a:off x="6537960" y="2633472"/>
            <a:ext cx="1783080" cy="310896"/>
          </a:xfrm>
          <a:prstGeom prst="rect">
            <a:avLst/>
          </a:prstGeom>
          <a:noFill/>
          <a:ln/>
        </p:spPr>
        <p:txBody>
          <a:bodyPr wrap="square" lIns="254" tIns="254" rIns="254" bIns="254" rtlCol="0" anchor="ctr">
            <a:normAutofit/>
          </a:bodyPr>
          <a:lstStyle/>
          <a:p>
            <a:pPr algn="ctr" indent="0" marL="0">
              <a:buNone/>
            </a:pPr>
            <a:r>
              <a:rPr lang="en-US" sz="1150" dirty="0">
                <a:solidFill>
                  <a:srgbClr val="52616B"/>
                </a:solidFill>
              </a:rPr>
              <a:t>Báo cáo tháng tự động hóa</a:t>
            </a:r>
            <a:endParaRPr lang="en-US" sz="1150" dirty="0"/>
          </a:p>
        </p:txBody>
      </p:sp>
      <p:sp>
        <p:nvSpPr>
          <p:cNvPr id="14" name="Shape 12"/>
          <p:cNvSpPr/>
          <p:nvPr/>
        </p:nvSpPr>
        <p:spPr>
          <a:xfrm>
            <a:off x="9098280" y="1691640"/>
            <a:ext cx="2240280" cy="1554480"/>
          </a:xfrm>
          <a:prstGeom prst="roundRect">
            <a:avLst>
              <a:gd name="adj" fmla="val 4706"/>
            </a:avLst>
          </a:prstGeom>
          <a:solidFill>
            <a:srgbClr val="FFFFFF"/>
          </a:solidFill>
          <a:ln w="12700">
            <a:solidFill>
              <a:srgbClr val="D6E1EA"/>
            </a:solidFill>
            <a:prstDash val="solid"/>
          </a:ln>
        </p:spPr>
      </p:sp>
      <p:sp>
        <p:nvSpPr>
          <p:cNvPr id="15" name="Text 13"/>
          <p:cNvSpPr/>
          <p:nvPr/>
        </p:nvSpPr>
        <p:spPr>
          <a:xfrm>
            <a:off x="9281160" y="1993392"/>
            <a:ext cx="1828800" cy="457200"/>
          </a:xfrm>
          <a:prstGeom prst="rect">
            <a:avLst/>
          </a:prstGeom>
          <a:noFill/>
          <a:ln/>
        </p:spPr>
        <p:txBody>
          <a:bodyPr wrap="square" lIns="0" tIns="0" rIns="0" bIns="0" rtlCol="0" anchor="ctr"/>
          <a:lstStyle/>
          <a:p>
            <a:pPr algn="ctr" indent="0" marL="0">
              <a:buNone/>
            </a:pPr>
            <a:r>
              <a:rPr lang="en-US" sz="3200" b="1" dirty="0">
                <a:solidFill>
                  <a:srgbClr val="2F855A"/>
                </a:solidFill>
              </a:rPr>
              <a:t>25%</a:t>
            </a:r>
            <a:endParaRPr lang="en-US" sz="3200" dirty="0"/>
          </a:p>
        </p:txBody>
      </p:sp>
      <p:sp>
        <p:nvSpPr>
          <p:cNvPr id="16" name="Text 14"/>
          <p:cNvSpPr/>
          <p:nvPr/>
        </p:nvSpPr>
        <p:spPr>
          <a:xfrm>
            <a:off x="9326880" y="2633472"/>
            <a:ext cx="1783080" cy="310896"/>
          </a:xfrm>
          <a:prstGeom prst="rect">
            <a:avLst/>
          </a:prstGeom>
          <a:noFill/>
          <a:ln/>
        </p:spPr>
        <p:txBody>
          <a:bodyPr wrap="square" lIns="254" tIns="254" rIns="254" bIns="254" rtlCol="0" anchor="ctr">
            <a:normAutofit/>
          </a:bodyPr>
          <a:lstStyle/>
          <a:p>
            <a:pPr algn="ctr" indent="0" marL="0">
              <a:buNone/>
            </a:pPr>
            <a:r>
              <a:rPr lang="en-US" sz="1150" dirty="0">
                <a:solidFill>
                  <a:srgbClr val="52616B"/>
                </a:solidFill>
              </a:rPr>
              <a:t>Giảm sách trả trễ</a:t>
            </a:r>
            <a:endParaRPr lang="en-US" sz="1150" dirty="0"/>
          </a:p>
        </p:txBody>
      </p:sp>
      <p:sp>
        <p:nvSpPr>
          <p:cNvPr id="17" name="Text 15"/>
          <p:cNvSpPr/>
          <p:nvPr/>
        </p:nvSpPr>
        <p:spPr>
          <a:xfrm>
            <a:off x="914400" y="3977640"/>
            <a:ext cx="9875520" cy="1097280"/>
          </a:xfrm>
          <a:prstGeom prst="rect">
            <a:avLst/>
          </a:prstGeom>
          <a:noFill/>
          <a:ln/>
        </p:spPr>
        <p:txBody>
          <a:bodyPr wrap="square" lIns="635" tIns="635" rIns="635" bIns="635" rtlCol="0" anchor="ctr">
            <a:normAutofit/>
          </a:bodyPr>
          <a:lstStyle/>
          <a:p>
            <a:r>
              <a:rPr lang="en-US" sz="1500" dirty="0">
                <a:solidFill>
                  <a:srgbClr val="52616B"/>
                </a:solidFill>
              </a:rPr>
              <a:t>KPI nên đo trước và sau triển khai để tránh đánh giá cảm tính.</a:t>
            </a:r>
            <a:endParaRPr lang="en-US" sz="1500" dirty="0"/>
          </a:p>
          <a:p>
            <a:r>
              <a:rPr lang="en-US" sz="1500" dirty="0">
                <a:solidFill>
                  <a:srgbClr val="52616B"/>
                </a:solidFill>
              </a:rPr>
              <a:t>Cần tách KPI cho người dùng cuối, thủ thư và ban giám hiệu.</a:t>
            </a:r>
            <a:endParaRPr lang="en-US" sz="1500" dirty="0"/>
          </a:p>
          <a:p>
            <a:r>
              <a:rPr lang="en-US" sz="1500" dirty="0">
                <a:solidFill>
                  <a:srgbClr val="52616B"/>
                </a:solidFill>
              </a:rPr>
              <a:t>Dữ liệu báo cáo nên có khả năng xuất ra Excel hoặc PDF để phục vụ họp định kỳ.</a:t>
            </a:r>
            <a:endParaRPr lang="en-US" sz="1500" dirty="0"/>
          </a:p>
        </p:txBody>
      </p:sp>
      <p:sp>
        <p:nvSpPr>
          <p:cNvPr id="18" name="Text 16"/>
          <p:cNvSpPr/>
          <p:nvPr/>
        </p:nvSpPr>
        <p:spPr>
          <a:xfrm>
            <a:off x="9921240" y="6446520"/>
            <a:ext cx="1645920" cy="182880"/>
          </a:xfrm>
          <a:prstGeom prst="rect">
            <a:avLst/>
          </a:prstGeom>
          <a:noFill/>
          <a:ln/>
        </p:spPr>
        <p:txBody>
          <a:bodyPr wrap="square" lIns="0" tIns="0" rIns="0" bIns="0" rtlCol="0" anchor="ctr"/>
          <a:lstStyle/>
          <a:p>
            <a:pPr algn="r" indent="0" marL="0">
              <a:buNone/>
            </a:pPr>
            <a:r>
              <a:rPr lang="en-US" sz="800" dirty="0">
                <a:solidFill>
                  <a:srgbClr val="7B8794"/>
                </a:solidFill>
              </a:rPr>
              <a:t>File PPTX mẫu • 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lIns="0" tIns="0" rIns="0" bIns="0" rtlCol="0" anchor="ctr"/>
          <a:lstStyle/>
          <a:p>
            <a:pPr indent="0" marL="0">
              <a:buNone/>
            </a:pPr>
            <a:r>
              <a:rPr lang="en-US" sz="850" b="1" dirty="0">
                <a:solidFill>
                  <a:srgbClr val="2B6CB0"/>
                </a:solidFill>
                <a:latin typeface="Aptos" pitchFamily="34" charset="0"/>
                <a:ea typeface="Aptos" pitchFamily="34" charset="-122"/>
                <a:cs typeface="Aptos" pitchFamily="34" charset="-120"/>
              </a:rPr>
              <a:t>NỘI DUNG MẪU</a:t>
            </a:r>
            <a:endParaRPr lang="en-US" sz="850" dirty="0"/>
          </a:p>
        </p:txBody>
      </p:sp>
      <p:sp>
        <p:nvSpPr>
          <p:cNvPr id="3" name="Text 1"/>
          <p:cNvSpPr/>
          <p:nvPr/>
        </p:nvSpPr>
        <p:spPr>
          <a:xfrm>
            <a:off x="502920" y="548640"/>
            <a:ext cx="7132320" cy="502920"/>
          </a:xfrm>
          <a:prstGeom prst="rect">
            <a:avLst/>
          </a:prstGeom>
          <a:noFill/>
          <a:ln/>
        </p:spPr>
        <p:txBody>
          <a:bodyPr wrap="square" lIns="0" tIns="0" rIns="0" bIns="0" rtlCol="0" anchor="ctr"/>
          <a:lstStyle/>
          <a:p>
            <a:pPr indent="0" marL="0">
              <a:buNone/>
            </a:pPr>
            <a:r>
              <a:rPr lang="en-US" sz="2600" b="1" dirty="0">
                <a:solidFill>
                  <a:srgbClr val="18324A"/>
                </a:solidFill>
                <a:latin typeface="Aptos Display" pitchFamily="34" charset="0"/>
                <a:ea typeface="Aptos Display" pitchFamily="34" charset="-122"/>
                <a:cs typeface="Aptos Display" pitchFamily="34" charset="-120"/>
              </a:rPr>
              <a:t>Kết luận và hướng mở rộng</a:t>
            </a:r>
            <a:endParaRPr lang="en-US" sz="2600" dirty="0"/>
          </a:p>
        </p:txBody>
      </p:sp>
      <p:sp>
        <p:nvSpPr>
          <p:cNvPr id="4" name="Shape 2"/>
          <p:cNvSpPr/>
          <p:nvPr/>
        </p:nvSpPr>
        <p:spPr>
          <a:xfrm>
            <a:off x="502920" y="1143000"/>
            <a:ext cx="11064240" cy="0"/>
          </a:xfrm>
          <a:prstGeom prst="line">
            <a:avLst/>
          </a:prstGeom>
          <a:noFill/>
          <a:ln w="12700">
            <a:solidFill>
              <a:srgbClr val="CAD7E3"/>
            </a:solidFill>
            <a:prstDash val="solid"/>
          </a:ln>
        </p:spPr>
      </p:sp>
      <p:sp>
        <p:nvSpPr>
          <p:cNvPr id="5" name="Text 3"/>
          <p:cNvSpPr/>
          <p:nvPr/>
        </p:nvSpPr>
        <p:spPr>
          <a:xfrm>
            <a:off x="777240" y="1508760"/>
            <a:ext cx="10515600" cy="914400"/>
          </a:xfrm>
          <a:prstGeom prst="rect">
            <a:avLst/>
          </a:prstGeom>
          <a:noFill/>
          <a:ln/>
        </p:spPr>
        <p:txBody>
          <a:bodyPr wrap="square" lIns="254" tIns="254" rIns="254" bIns="254" rtlCol="0" anchor="ctr">
            <a:normAutofit/>
          </a:bodyPr>
          <a:lstStyle/>
          <a:p>
            <a:pPr indent="0" marL="0">
              <a:buNone/>
            </a:pPr>
            <a:r>
              <a:rPr lang="en-US" sz="1700" dirty="0">
                <a:solidFill>
                  <a:srgbClr val="52616B"/>
                </a:solidFill>
              </a:rPr>
              <a:t>Thư viện thông minh giúp trường học chuyển từ mô hình lưu trữ thụ động sang mô hình khai thác tri thức chủ động. Khi dữ liệu sách, người dùng và hành vi đọc được kết nối, thư viện không chỉ là nơi mượn tài liệu mà còn trở thành trung tâm hỗ trợ học tập.</a:t>
            </a:r>
            <a:endParaRPr lang="en-US" sz="1700" dirty="0"/>
          </a:p>
        </p:txBody>
      </p:sp>
      <p:sp>
        <p:nvSpPr>
          <p:cNvPr id="6" name="Shape 4"/>
          <p:cNvSpPr/>
          <p:nvPr/>
        </p:nvSpPr>
        <p:spPr>
          <a:xfrm>
            <a:off x="914400" y="2880360"/>
            <a:ext cx="4800600" cy="1463040"/>
          </a:xfrm>
          <a:prstGeom prst="roundRect">
            <a:avLst>
              <a:gd name="adj" fmla="val 5000"/>
            </a:avLst>
          </a:prstGeom>
          <a:solidFill>
            <a:srgbClr val="E8F5EE"/>
          </a:solidFill>
          <a:ln w="12700">
            <a:solidFill>
              <a:srgbClr val="C6D6E4"/>
            </a:solidFill>
            <a:prstDash val="solid"/>
          </a:ln>
        </p:spPr>
      </p:sp>
      <p:sp>
        <p:nvSpPr>
          <p:cNvPr id="7" name="Text 5"/>
          <p:cNvSpPr/>
          <p:nvPr/>
        </p:nvSpPr>
        <p:spPr>
          <a:xfrm>
            <a:off x="1234440" y="3154680"/>
            <a:ext cx="2560320" cy="274320"/>
          </a:xfrm>
          <a:prstGeom prst="rect">
            <a:avLst/>
          </a:prstGeom>
          <a:noFill/>
          <a:ln/>
        </p:spPr>
        <p:txBody>
          <a:bodyPr wrap="square" lIns="0" tIns="0" rIns="0" bIns="0" rtlCol="0" anchor="ctr"/>
          <a:lstStyle/>
          <a:p>
            <a:pPr indent="0" marL="0">
              <a:buNone/>
            </a:pPr>
            <a:r>
              <a:rPr lang="en-US" sz="1800" b="1" dirty="0">
                <a:solidFill>
                  <a:srgbClr val="2F855A"/>
                </a:solidFill>
              </a:rPr>
              <a:t>Ưu tiên ngắn hạn</a:t>
            </a:r>
            <a:endParaRPr lang="en-US" sz="1800" dirty="0"/>
          </a:p>
        </p:txBody>
      </p:sp>
      <p:sp>
        <p:nvSpPr>
          <p:cNvPr id="8" name="Text 6"/>
          <p:cNvSpPr/>
          <p:nvPr/>
        </p:nvSpPr>
        <p:spPr>
          <a:xfrm>
            <a:off x="1234440" y="3611880"/>
            <a:ext cx="4114800" cy="411480"/>
          </a:xfrm>
          <a:prstGeom prst="rect">
            <a:avLst/>
          </a:prstGeom>
          <a:noFill/>
          <a:ln/>
        </p:spPr>
        <p:txBody>
          <a:bodyPr wrap="square" lIns="254" tIns="254" rIns="254" bIns="254" rtlCol="0" anchor="ctr">
            <a:normAutofit/>
          </a:bodyPr>
          <a:lstStyle/>
          <a:p>
            <a:pPr indent="0" marL="0">
              <a:buNone/>
            </a:pPr>
            <a:r>
              <a:rPr lang="en-US" sz="1300" dirty="0">
                <a:solidFill>
                  <a:srgbClr val="52616B"/>
                </a:solidFill>
              </a:rPr>
              <a:t>Số hóa danh mục sách, chuẩn hóa mã tài liệu, triển khai mượn trả điện tử và báo cáo cơ bản.</a:t>
            </a:r>
            <a:endParaRPr lang="en-US" sz="1300" dirty="0"/>
          </a:p>
        </p:txBody>
      </p:sp>
      <p:sp>
        <p:nvSpPr>
          <p:cNvPr id="9" name="Shape 7"/>
          <p:cNvSpPr/>
          <p:nvPr/>
        </p:nvSpPr>
        <p:spPr>
          <a:xfrm>
            <a:off x="6400800" y="2880360"/>
            <a:ext cx="4800600" cy="1463040"/>
          </a:xfrm>
          <a:prstGeom prst="roundRect">
            <a:avLst>
              <a:gd name="adj" fmla="val 5000"/>
            </a:avLst>
          </a:prstGeom>
          <a:solidFill>
            <a:srgbClr val="E7F0FA"/>
          </a:solidFill>
          <a:ln w="12700">
            <a:solidFill>
              <a:srgbClr val="C6D6E4"/>
            </a:solidFill>
            <a:prstDash val="solid"/>
          </a:ln>
        </p:spPr>
      </p:sp>
      <p:sp>
        <p:nvSpPr>
          <p:cNvPr id="10" name="Text 8"/>
          <p:cNvSpPr/>
          <p:nvPr/>
        </p:nvSpPr>
        <p:spPr>
          <a:xfrm>
            <a:off x="6720840" y="3154680"/>
            <a:ext cx="2560320" cy="274320"/>
          </a:xfrm>
          <a:prstGeom prst="rect">
            <a:avLst/>
          </a:prstGeom>
          <a:noFill/>
          <a:ln/>
        </p:spPr>
        <p:txBody>
          <a:bodyPr wrap="square" lIns="0" tIns="0" rIns="0" bIns="0" rtlCol="0" anchor="ctr"/>
          <a:lstStyle/>
          <a:p>
            <a:pPr indent="0" marL="0">
              <a:buNone/>
            </a:pPr>
            <a:r>
              <a:rPr lang="en-US" sz="1800" b="1" dirty="0">
                <a:solidFill>
                  <a:srgbClr val="2B6CB0"/>
                </a:solidFill>
              </a:rPr>
              <a:t>Mở rộng dài hạn</a:t>
            </a:r>
            <a:endParaRPr lang="en-US" sz="1800" dirty="0"/>
          </a:p>
        </p:txBody>
      </p:sp>
      <p:sp>
        <p:nvSpPr>
          <p:cNvPr id="11" name="Text 9"/>
          <p:cNvSpPr/>
          <p:nvPr/>
        </p:nvSpPr>
        <p:spPr>
          <a:xfrm>
            <a:off x="6720840" y="3611880"/>
            <a:ext cx="4114800" cy="411480"/>
          </a:xfrm>
          <a:prstGeom prst="rect">
            <a:avLst/>
          </a:prstGeom>
          <a:noFill/>
          <a:ln/>
        </p:spPr>
        <p:txBody>
          <a:bodyPr wrap="square" lIns="254" tIns="254" rIns="254" bIns="254" rtlCol="0" anchor="ctr">
            <a:normAutofit/>
          </a:bodyPr>
          <a:lstStyle/>
          <a:p>
            <a:pPr indent="0" marL="0">
              <a:buNone/>
            </a:pPr>
            <a:r>
              <a:rPr lang="en-US" sz="1300" dirty="0">
                <a:solidFill>
                  <a:srgbClr val="52616B"/>
                </a:solidFill>
              </a:rPr>
              <a:t>Tích hợp AI tìm kiếm ngữ nghĩa, chatbot hỏi đáp tài liệu và hệ thống gợi ý theo năng lực học tập.</a:t>
            </a:r>
            <a:endParaRPr lang="en-US" sz="1300" dirty="0"/>
          </a:p>
        </p:txBody>
      </p:sp>
      <p:sp>
        <p:nvSpPr>
          <p:cNvPr id="12" name="Text 10"/>
          <p:cNvSpPr/>
          <p:nvPr/>
        </p:nvSpPr>
        <p:spPr>
          <a:xfrm>
            <a:off x="5349240" y="5440680"/>
            <a:ext cx="1463040" cy="365760"/>
          </a:xfrm>
          <a:prstGeom prst="rect">
            <a:avLst/>
          </a:prstGeom>
          <a:noFill/>
          <a:ln/>
        </p:spPr>
        <p:txBody>
          <a:bodyPr wrap="square" lIns="0" tIns="0" rIns="0" bIns="0" rtlCol="0" anchor="ctr"/>
          <a:lstStyle/>
          <a:p>
            <a:pPr algn="ctr" indent="0" marL="0">
              <a:buNone/>
            </a:pPr>
            <a:r>
              <a:rPr lang="en-US" sz="2200" b="1" dirty="0">
                <a:solidFill>
                  <a:srgbClr val="18324A"/>
                </a:solidFill>
              </a:rPr>
              <a:t>Hết</a:t>
            </a:r>
            <a:endParaRPr lang="en-US" sz="2200" dirty="0"/>
          </a:p>
        </p:txBody>
      </p:sp>
      <p:sp>
        <p:nvSpPr>
          <p:cNvPr id="13" name="Text 11"/>
          <p:cNvSpPr/>
          <p:nvPr/>
        </p:nvSpPr>
        <p:spPr>
          <a:xfrm>
            <a:off x="9921240" y="6446520"/>
            <a:ext cx="1645920" cy="182880"/>
          </a:xfrm>
          <a:prstGeom prst="rect">
            <a:avLst/>
          </a:prstGeom>
          <a:noFill/>
          <a:ln/>
        </p:spPr>
        <p:txBody>
          <a:bodyPr wrap="square" lIns="0" tIns="0" rIns="0" bIns="0" rtlCol="0" anchor="ctr"/>
          <a:lstStyle/>
          <a:p>
            <a:pPr algn="r" indent="0" marL="0">
              <a:buNone/>
            </a:pPr>
            <a:r>
              <a:rPr lang="en-US" sz="800" dirty="0">
                <a:solidFill>
                  <a:srgbClr val="7B8794"/>
                </a:solidFill>
              </a:rPr>
              <a:t>File PPTX mẫu • 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Sample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trình chiếu mẫu: Thư viện thông minh</dc:title>
  <dc:subject>Sample deck with longer random content</dc:subject>
  <dc:creator>OpenAI</dc:creator>
  <cp:lastModifiedBy>OpenAI</cp:lastModifiedBy>
  <cp:revision>1</cp:revision>
  <dcterms:created xsi:type="dcterms:W3CDTF">2026-05-20T12:27:56Z</dcterms:created>
  <dcterms:modified xsi:type="dcterms:W3CDTF">2026-05-20T12:27:56Z</dcterms:modified>
</cp:coreProperties>
</file>