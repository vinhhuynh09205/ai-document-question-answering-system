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F766E"/>
          </a:solidFill>
          <a:ln w="12700">
            <a:solidFill>
              <a:srgbClr val="0F766E"/>
            </a:solidFill>
            <a:prstDash val="solid"/>
          </a:ln>
        </p:spPr>
      </p:sp>
      <p:sp>
        <p:nvSpPr>
          <p:cNvPr id="3" name="Text 1"/>
          <p:cNvSpPr/>
          <p:nvPr/>
        </p:nvSpPr>
        <p:spPr>
          <a:xfrm>
            <a:off x="502920" y="228600"/>
            <a:ext cx="7772400" cy="4114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Lịch trình Cần Thơ cuối tuần</a:t>
            </a:r>
            <a:endParaRPr lang="en-US" sz="2400" dirty="0"/>
          </a:p>
        </p:txBody>
      </p:sp>
      <p:sp>
        <p:nvSpPr>
          <p:cNvPr id="4" name="Text 2"/>
          <p:cNvSpPr/>
          <p:nvPr/>
        </p:nvSpPr>
        <p:spPr>
          <a:xfrm>
            <a:off x="521208" y="658368"/>
            <a:ext cx="7772400" cy="228600"/>
          </a:xfrm>
          <a:prstGeom prst="rect">
            <a:avLst/>
          </a:prstGeom>
          <a:noFill/>
          <a:ln/>
        </p:spPr>
        <p:txBody>
          <a:bodyPr wrap="square" lIns="0" tIns="0" rIns="0" bIns="0" rtlCol="0" anchor="ctr"/>
          <a:lstStyle/>
          <a:p>
            <a:pPr indent="0" marL="0">
              <a:buNone/>
            </a:pPr>
            <a:r>
              <a:rPr lang="en-US" sz="1050" dirty="0">
                <a:solidFill>
                  <a:srgbClr val="E2E8F0"/>
                </a:solidFill>
                <a:latin typeface="Arial" pitchFamily="34" charset="0"/>
                <a:ea typeface="Arial" pitchFamily="34" charset="-122"/>
                <a:cs typeface="Arial" pitchFamily="34" charset="-120"/>
              </a:rPr>
              <a:t>Gợi ý 2 ngày 1 đêm cho nhóm bạn nhỏ</a:t>
            </a:r>
            <a:endParaRPr lang="en-US" sz="1050" dirty="0"/>
          </a:p>
        </p:txBody>
      </p:sp>
      <p:sp>
        <p:nvSpPr>
          <p:cNvPr id="5" name="Text 3"/>
          <p:cNvSpPr/>
          <p:nvPr/>
        </p:nvSpPr>
        <p:spPr>
          <a:xfrm>
            <a:off x="640080" y="1508760"/>
            <a:ext cx="4754880" cy="365760"/>
          </a:xfrm>
          <a:prstGeom prst="rect">
            <a:avLst/>
          </a:prstGeom>
          <a:noFill/>
          <a:ln/>
        </p:spPr>
        <p:txBody>
          <a:bodyPr wrap="square" lIns="0" tIns="0" rIns="0" bIns="0" rtlCol="0" anchor="ctr"/>
          <a:lstStyle/>
          <a:p>
            <a:pPr indent="0" marL="0">
              <a:buNone/>
            </a:pPr>
            <a:r>
              <a:rPr lang="en-US" sz="2200" b="1" dirty="0">
                <a:solidFill>
                  <a:srgbClr val="0F172A"/>
                </a:solidFill>
              </a:rPr>
              <a:t>Mục tiêu chuyến đi</a:t>
            </a:r>
            <a:endParaRPr lang="en-US" sz="2200" dirty="0"/>
          </a:p>
        </p:txBody>
      </p:sp>
      <p:sp>
        <p:nvSpPr>
          <p:cNvPr id="6" name="Text 4"/>
          <p:cNvSpPr/>
          <p:nvPr/>
        </p:nvSpPr>
        <p:spPr>
          <a:xfrm>
            <a:off x="640080" y="1965960"/>
            <a:ext cx="4846320" cy="960120"/>
          </a:xfrm>
          <a:prstGeom prst="rect">
            <a:avLst/>
          </a:prstGeom>
          <a:noFill/>
          <a:ln/>
        </p:spPr>
        <p:txBody>
          <a:bodyPr wrap="square" lIns="0" tIns="0" rIns="0" bIns="0" rtlCol="0" anchor="ctr">
            <a:normAutofit/>
          </a:bodyPr>
          <a:lstStyle/>
          <a:p>
            <a:pPr indent="0" marL="0">
              <a:buNone/>
            </a:pPr>
            <a:r>
              <a:rPr lang="en-US" sz="1600" dirty="0">
                <a:solidFill>
                  <a:srgbClr val="334155"/>
                </a:solidFill>
              </a:rPr>
              <a:t>Đi nhẹ, ăn ngon, chụp ảnh đẹp và không dồn lịch quá dày. Kế hoạch ưu tiên trải nghiệm địa phương, di chuyển ngắn và có thời gian nghỉ.</a:t>
            </a:r>
            <a:endParaRPr lang="en-US" sz="1600" dirty="0"/>
          </a:p>
        </p:txBody>
      </p:sp>
      <p:sp>
        <p:nvSpPr>
          <p:cNvPr id="7" name="Shape 5"/>
          <p:cNvSpPr/>
          <p:nvPr/>
        </p:nvSpPr>
        <p:spPr>
          <a:xfrm>
            <a:off x="6583680" y="1325880"/>
            <a:ext cx="3383280" cy="3383280"/>
          </a:xfrm>
          <a:prstGeom prst="arc">
            <a:avLst/>
          </a:prstGeom>
          <a:noFill/>
          <a:ln w="38100">
            <a:solidFill>
              <a:srgbClr val="14B8A6"/>
            </a:solidFill>
            <a:prstDash val="solid"/>
          </a:ln>
        </p:spPr>
      </p:sp>
      <p:sp>
        <p:nvSpPr>
          <p:cNvPr id="8" name="Text 6"/>
          <p:cNvSpPr/>
          <p:nvPr/>
        </p:nvSpPr>
        <p:spPr>
          <a:xfrm>
            <a:off x="7333488" y="2057400"/>
            <a:ext cx="1920240" cy="822960"/>
          </a:xfrm>
          <a:prstGeom prst="rect">
            <a:avLst/>
          </a:prstGeom>
          <a:noFill/>
          <a:ln/>
        </p:spPr>
        <p:txBody>
          <a:bodyPr wrap="square" lIns="0" tIns="0" rIns="0" bIns="0" rtlCol="0" anchor="ctr"/>
          <a:lstStyle/>
          <a:p>
            <a:pPr algn="ctr" indent="0" marL="0">
              <a:buNone/>
            </a:pPr>
            <a:r>
              <a:rPr lang="en-US" sz="2800" b="1" dirty="0">
                <a:solidFill>
                  <a:srgbClr val="0F766E"/>
                </a:solidFill>
              </a:rPr>
              <a:t>2 ngày</a:t>
            </a:r>
            <a:endParaRPr lang="en-US" sz="2800" dirty="0"/>
          </a:p>
          <a:p>
            <a:pPr algn="ctr" indent="0" marL="0">
              <a:buNone/>
            </a:pPr>
            <a:r>
              <a:rPr lang="en-US" sz="2800" b="1" dirty="0">
                <a:solidFill>
                  <a:srgbClr val="0F766E"/>
                </a:solidFill>
              </a:rPr>
              <a:t>1 đêm</a:t>
            </a:r>
            <a:endParaRPr lang="en-US" sz="2800" dirty="0"/>
          </a:p>
        </p:txBody>
      </p:sp>
      <p:sp>
        <p:nvSpPr>
          <p:cNvPr id="9" name="Text 7"/>
          <p:cNvSpPr/>
          <p:nvPr/>
        </p:nvSpPr>
        <p:spPr>
          <a:xfrm>
            <a:off x="502920" y="6473952"/>
            <a:ext cx="3200400" cy="164592"/>
          </a:xfrm>
          <a:prstGeom prst="rect">
            <a:avLst/>
          </a:prstGeom>
          <a:noFill/>
          <a:ln/>
        </p:spPr>
        <p:txBody>
          <a:bodyPr wrap="square" lIns="0" tIns="0" rIns="0" bIns="0" rtlCol="0" anchor="ctr"/>
          <a:lstStyle/>
          <a:p>
            <a:pPr indent="0" marL="0">
              <a:buNone/>
            </a:pPr>
            <a:r>
              <a:rPr lang="en-US" sz="800" dirty="0">
                <a:solidFill>
                  <a:srgbClr val="64748B"/>
                </a:solidFill>
              </a:rPr>
              <a:t>Tài liệu kiểm thử PowerPoint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F766E"/>
          </a:solidFill>
          <a:ln w="12700">
            <a:solidFill>
              <a:srgbClr val="0F766E"/>
            </a:solidFill>
            <a:prstDash val="solid"/>
          </a:ln>
        </p:spPr>
      </p:sp>
      <p:sp>
        <p:nvSpPr>
          <p:cNvPr id="3" name="Text 1"/>
          <p:cNvSpPr/>
          <p:nvPr/>
        </p:nvSpPr>
        <p:spPr>
          <a:xfrm>
            <a:off x="502920" y="228600"/>
            <a:ext cx="7772400" cy="4114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Ngày 1: Khám phá nhịp sống sông nước</a:t>
            </a:r>
            <a:endParaRPr lang="en-US" sz="2400" dirty="0"/>
          </a:p>
        </p:txBody>
      </p:sp>
      <p:sp>
        <p:nvSpPr>
          <p:cNvPr id="4" name="Text 2"/>
          <p:cNvSpPr/>
          <p:nvPr/>
        </p:nvSpPr>
        <p:spPr>
          <a:xfrm>
            <a:off x="521208" y="658368"/>
            <a:ext cx="7772400" cy="228600"/>
          </a:xfrm>
          <a:prstGeom prst="rect">
            <a:avLst/>
          </a:prstGeom>
          <a:noFill/>
          <a:ln/>
        </p:spPr>
        <p:txBody>
          <a:bodyPr wrap="square" lIns="0" tIns="0" rIns="0" bIns="0" rtlCol="0" anchor="ctr"/>
          <a:lstStyle/>
          <a:p>
            <a:pPr indent="0" marL="0">
              <a:buNone/>
            </a:pPr>
            <a:r>
              <a:rPr lang="en-US" sz="1050" dirty="0">
                <a:solidFill>
                  <a:srgbClr val="E2E8F0"/>
                </a:solidFill>
                <a:latin typeface="Arial" pitchFamily="34" charset="0"/>
                <a:ea typeface="Arial" pitchFamily="34" charset="-122"/>
                <a:cs typeface="Arial" pitchFamily="34" charset="-120"/>
              </a:rPr>
              <a:t>Buổi sáng đi chợ, chiều cà phê, tối ăn ven sông</a:t>
            </a:r>
            <a:endParaRPr lang="en-US" sz="1050" dirty="0"/>
          </a:p>
        </p:txBody>
      </p:sp>
      <p:sp>
        <p:nvSpPr>
          <p:cNvPr id="5" name="Shape 3"/>
          <p:cNvSpPr/>
          <p:nvPr/>
        </p:nvSpPr>
        <p:spPr>
          <a:xfrm>
            <a:off x="640080" y="1325880"/>
            <a:ext cx="5212080" cy="1874520"/>
          </a:xfrm>
          <a:prstGeom prst="roundRect">
            <a:avLst>
              <a:gd name="adj" fmla="val 3902"/>
            </a:avLst>
          </a:prstGeom>
          <a:solidFill>
            <a:srgbClr val="FFFFFF"/>
          </a:solidFill>
          <a:ln w="12700">
            <a:solidFill>
              <a:srgbClr val="CBD5E1"/>
            </a:solidFill>
            <a:prstDash val="solid"/>
          </a:ln>
        </p:spPr>
      </p:sp>
      <p:sp>
        <p:nvSpPr>
          <p:cNvPr id="6" name="Text 4"/>
          <p:cNvSpPr/>
          <p:nvPr/>
        </p:nvSpPr>
        <p:spPr>
          <a:xfrm>
            <a:off x="868680" y="1490472"/>
            <a:ext cx="4754880" cy="274320"/>
          </a:xfrm>
          <a:prstGeom prst="rect">
            <a:avLst/>
          </a:prstGeom>
          <a:noFill/>
          <a:ln/>
        </p:spPr>
        <p:txBody>
          <a:bodyPr wrap="square" lIns="0" tIns="0" rIns="0" bIns="0" rtlCol="0" anchor="ctr"/>
          <a:lstStyle/>
          <a:p>
            <a:pPr indent="0" marL="0">
              <a:buNone/>
            </a:pPr>
            <a:r>
              <a:rPr lang="en-US" sz="1600" b="1" dirty="0">
                <a:solidFill>
                  <a:srgbClr val="0F766E"/>
                </a:solidFill>
              </a:rPr>
              <a:t>Buổi sáng</a:t>
            </a:r>
            <a:endParaRPr lang="en-US" sz="1600" dirty="0"/>
          </a:p>
        </p:txBody>
      </p:sp>
      <p:sp>
        <p:nvSpPr>
          <p:cNvPr id="7" name="Text 5"/>
          <p:cNvSpPr/>
          <p:nvPr/>
        </p:nvSpPr>
        <p:spPr>
          <a:xfrm>
            <a:off x="914400" y="1892808"/>
            <a:ext cx="4617720" cy="1097280"/>
          </a:xfrm>
          <a:prstGeom prst="rect">
            <a:avLst/>
          </a:prstGeom>
          <a:noFill/>
          <a:ln/>
        </p:spPr>
        <p:txBody>
          <a:bodyPr wrap="square" lIns="508" tIns="508" rIns="508" bIns="508" rtlCol="0" anchor="t">
            <a:normAutofit/>
          </a:bodyPr>
          <a:lstStyle/>
          <a:p>
            <a:pPr indent="0" marL="0">
              <a:buNone/>
            </a:pPr>
            <a:r>
              <a:rPr lang="en-US" sz="1150" dirty="0">
                <a:solidFill>
                  <a:srgbClr val="1F2937"/>
                </a:solidFill>
              </a:rPr>
              <a:t>• Đến bến Ninh Kiều trước 8h</a:t>
            </a:r>
            <a:endParaRPr lang="en-US" sz="1150" dirty="0"/>
          </a:p>
          <a:p>
            <a:pPr indent="0" marL="0">
              <a:buNone/>
            </a:pPr>
            <a:r>
              <a:rPr lang="en-US" sz="1150" dirty="0">
                <a:solidFill>
                  <a:srgbClr val="1F2937"/>
                </a:solidFill>
              </a:rPr>
              <a:t>• Ăn sáng nhẹ với bún hoặc hủ tiếu</a:t>
            </a:r>
            <a:endParaRPr lang="en-US" sz="1150" dirty="0"/>
          </a:p>
          <a:p>
            <a:pPr indent="0" marL="0">
              <a:buNone/>
            </a:pPr>
            <a:r>
              <a:rPr lang="en-US" sz="1150" dirty="0">
                <a:solidFill>
                  <a:srgbClr val="1F2937"/>
                </a:solidFill>
              </a:rPr>
              <a:t>• Đi bộ quanh khu vực trung tâm</a:t>
            </a:r>
            <a:endParaRPr lang="en-US" sz="1150" dirty="0"/>
          </a:p>
        </p:txBody>
      </p:sp>
      <p:sp>
        <p:nvSpPr>
          <p:cNvPr id="8" name="Shape 6"/>
          <p:cNvSpPr/>
          <p:nvPr/>
        </p:nvSpPr>
        <p:spPr>
          <a:xfrm>
            <a:off x="6309360" y="1325880"/>
            <a:ext cx="5212080" cy="1874520"/>
          </a:xfrm>
          <a:prstGeom prst="roundRect">
            <a:avLst>
              <a:gd name="adj" fmla="val 3902"/>
            </a:avLst>
          </a:prstGeom>
          <a:solidFill>
            <a:srgbClr val="FFFFFF"/>
          </a:solidFill>
          <a:ln w="12700">
            <a:solidFill>
              <a:srgbClr val="CBD5E1"/>
            </a:solidFill>
            <a:prstDash val="solid"/>
          </a:ln>
        </p:spPr>
      </p:sp>
      <p:sp>
        <p:nvSpPr>
          <p:cNvPr id="9" name="Text 7"/>
          <p:cNvSpPr/>
          <p:nvPr/>
        </p:nvSpPr>
        <p:spPr>
          <a:xfrm>
            <a:off x="6537960" y="1490472"/>
            <a:ext cx="4754880" cy="274320"/>
          </a:xfrm>
          <a:prstGeom prst="rect">
            <a:avLst/>
          </a:prstGeom>
          <a:noFill/>
          <a:ln/>
        </p:spPr>
        <p:txBody>
          <a:bodyPr wrap="square" lIns="0" tIns="0" rIns="0" bIns="0" rtlCol="0" anchor="ctr"/>
          <a:lstStyle/>
          <a:p>
            <a:pPr indent="0" marL="0">
              <a:buNone/>
            </a:pPr>
            <a:r>
              <a:rPr lang="en-US" sz="1600" b="1" dirty="0">
                <a:solidFill>
                  <a:srgbClr val="0F766E"/>
                </a:solidFill>
              </a:rPr>
              <a:t>Buổi chiều</a:t>
            </a:r>
            <a:endParaRPr lang="en-US" sz="1600" dirty="0"/>
          </a:p>
        </p:txBody>
      </p:sp>
      <p:sp>
        <p:nvSpPr>
          <p:cNvPr id="10" name="Text 8"/>
          <p:cNvSpPr/>
          <p:nvPr/>
        </p:nvSpPr>
        <p:spPr>
          <a:xfrm>
            <a:off x="6583680" y="1892808"/>
            <a:ext cx="4617720" cy="1097280"/>
          </a:xfrm>
          <a:prstGeom prst="rect">
            <a:avLst/>
          </a:prstGeom>
          <a:noFill/>
          <a:ln/>
        </p:spPr>
        <p:txBody>
          <a:bodyPr wrap="square" lIns="508" tIns="508" rIns="508" bIns="508" rtlCol="0" anchor="t">
            <a:normAutofit/>
          </a:bodyPr>
          <a:lstStyle/>
          <a:p>
            <a:pPr indent="0" marL="0">
              <a:buNone/>
            </a:pPr>
            <a:r>
              <a:rPr lang="en-US" sz="1150" dirty="0">
                <a:solidFill>
                  <a:srgbClr val="1F2937"/>
                </a:solidFill>
              </a:rPr>
              <a:t>• Nhận phòng và nghỉ 60 phút</a:t>
            </a:r>
            <a:endParaRPr lang="en-US" sz="1150" dirty="0"/>
          </a:p>
          <a:p>
            <a:pPr indent="0" marL="0">
              <a:buNone/>
            </a:pPr>
            <a:r>
              <a:rPr lang="en-US" sz="1150" dirty="0">
                <a:solidFill>
                  <a:srgbClr val="1F2937"/>
                </a:solidFill>
              </a:rPr>
              <a:t>• Ghé quán cà phê có view sông</a:t>
            </a:r>
            <a:endParaRPr lang="en-US" sz="1150" dirty="0"/>
          </a:p>
          <a:p>
            <a:pPr indent="0" marL="0">
              <a:buNone/>
            </a:pPr>
            <a:r>
              <a:rPr lang="en-US" sz="1150" dirty="0">
                <a:solidFill>
                  <a:srgbClr val="1F2937"/>
                </a:solidFill>
              </a:rPr>
              <a:t>• Chụp ảnh lúc hoàng hôn</a:t>
            </a:r>
            <a:endParaRPr lang="en-US" sz="1150" dirty="0"/>
          </a:p>
        </p:txBody>
      </p:sp>
      <p:sp>
        <p:nvSpPr>
          <p:cNvPr id="11" name="Shape 9"/>
          <p:cNvSpPr/>
          <p:nvPr/>
        </p:nvSpPr>
        <p:spPr>
          <a:xfrm>
            <a:off x="640080" y="3657600"/>
            <a:ext cx="5212080" cy="1874520"/>
          </a:xfrm>
          <a:prstGeom prst="roundRect">
            <a:avLst>
              <a:gd name="adj" fmla="val 3902"/>
            </a:avLst>
          </a:prstGeom>
          <a:solidFill>
            <a:srgbClr val="FFFFFF"/>
          </a:solidFill>
          <a:ln w="12700">
            <a:solidFill>
              <a:srgbClr val="CBD5E1"/>
            </a:solidFill>
            <a:prstDash val="solid"/>
          </a:ln>
        </p:spPr>
      </p:sp>
      <p:sp>
        <p:nvSpPr>
          <p:cNvPr id="12" name="Text 10"/>
          <p:cNvSpPr/>
          <p:nvPr/>
        </p:nvSpPr>
        <p:spPr>
          <a:xfrm>
            <a:off x="868680" y="3822192"/>
            <a:ext cx="4754880" cy="274320"/>
          </a:xfrm>
          <a:prstGeom prst="rect">
            <a:avLst/>
          </a:prstGeom>
          <a:noFill/>
          <a:ln/>
        </p:spPr>
        <p:txBody>
          <a:bodyPr wrap="square" lIns="0" tIns="0" rIns="0" bIns="0" rtlCol="0" anchor="ctr"/>
          <a:lstStyle/>
          <a:p>
            <a:pPr indent="0" marL="0">
              <a:buNone/>
            </a:pPr>
            <a:r>
              <a:rPr lang="en-US" sz="1600" b="1" dirty="0">
                <a:solidFill>
                  <a:srgbClr val="0F766E"/>
                </a:solidFill>
              </a:rPr>
              <a:t>Buổi tối</a:t>
            </a:r>
            <a:endParaRPr lang="en-US" sz="1600" dirty="0"/>
          </a:p>
        </p:txBody>
      </p:sp>
      <p:sp>
        <p:nvSpPr>
          <p:cNvPr id="13" name="Text 11"/>
          <p:cNvSpPr/>
          <p:nvPr/>
        </p:nvSpPr>
        <p:spPr>
          <a:xfrm>
            <a:off x="914400" y="4224528"/>
            <a:ext cx="4617720" cy="1097280"/>
          </a:xfrm>
          <a:prstGeom prst="rect">
            <a:avLst/>
          </a:prstGeom>
          <a:noFill/>
          <a:ln/>
        </p:spPr>
        <p:txBody>
          <a:bodyPr wrap="square" lIns="508" tIns="508" rIns="508" bIns="508" rtlCol="0" anchor="t">
            <a:normAutofit/>
          </a:bodyPr>
          <a:lstStyle/>
          <a:p>
            <a:pPr indent="0" marL="0">
              <a:buNone/>
            </a:pPr>
            <a:r>
              <a:rPr lang="en-US" sz="1150" dirty="0">
                <a:solidFill>
                  <a:srgbClr val="1F2937"/>
                </a:solidFill>
              </a:rPr>
              <a:t>• Ăn tối món địa phương</a:t>
            </a:r>
            <a:endParaRPr lang="en-US" sz="1150" dirty="0"/>
          </a:p>
          <a:p>
            <a:pPr indent="0" marL="0">
              <a:buNone/>
            </a:pPr>
            <a:r>
              <a:rPr lang="en-US" sz="1150" dirty="0">
                <a:solidFill>
                  <a:srgbClr val="1F2937"/>
                </a:solidFill>
              </a:rPr>
              <a:t>• Dạo chợ đêm</a:t>
            </a:r>
            <a:endParaRPr lang="en-US" sz="1150" dirty="0"/>
          </a:p>
          <a:p>
            <a:pPr indent="0" marL="0">
              <a:buNone/>
            </a:pPr>
            <a:r>
              <a:rPr lang="en-US" sz="1150" dirty="0">
                <a:solidFill>
                  <a:srgbClr val="1F2937"/>
                </a:solidFill>
              </a:rPr>
              <a:t>• Chuẩn bị đồ cho sáng hôm sau</a:t>
            </a:r>
            <a:endParaRPr lang="en-US" sz="1150" dirty="0"/>
          </a:p>
        </p:txBody>
      </p:sp>
      <p:sp>
        <p:nvSpPr>
          <p:cNvPr id="14" name="Shape 12"/>
          <p:cNvSpPr/>
          <p:nvPr/>
        </p:nvSpPr>
        <p:spPr>
          <a:xfrm>
            <a:off x="6492240" y="3886200"/>
            <a:ext cx="1143000" cy="1143000"/>
          </a:xfrm>
          <a:prstGeom prst="ellipse">
            <a:avLst/>
          </a:prstGeom>
          <a:solidFill>
            <a:srgbClr val="14B8A6"/>
          </a:solidFill>
          <a:ln w="12700">
            <a:solidFill>
              <a:srgbClr val="14B8A6"/>
            </a:solidFill>
            <a:prstDash val="solid"/>
          </a:ln>
        </p:spPr>
      </p:sp>
      <p:sp>
        <p:nvSpPr>
          <p:cNvPr id="15" name="Text 13"/>
          <p:cNvSpPr/>
          <p:nvPr/>
        </p:nvSpPr>
        <p:spPr>
          <a:xfrm>
            <a:off x="6583680" y="4206240"/>
            <a:ext cx="960120" cy="274320"/>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16" name="Text 14"/>
          <p:cNvSpPr/>
          <p:nvPr/>
        </p:nvSpPr>
        <p:spPr>
          <a:xfrm>
            <a:off x="7818120" y="4133088"/>
            <a:ext cx="3291840" cy="502920"/>
          </a:xfrm>
          <a:prstGeom prst="rect">
            <a:avLst/>
          </a:prstGeom>
          <a:noFill/>
          <a:ln/>
        </p:spPr>
        <p:txBody>
          <a:bodyPr wrap="square" lIns="0" tIns="0" rIns="0" bIns="0" rtlCol="0" anchor="ctr"/>
          <a:lstStyle/>
          <a:p>
            <a:pPr indent="0" marL="0">
              <a:buNone/>
            </a:pPr>
            <a:r>
              <a:rPr lang="en-US" sz="1300" b="1" dirty="0">
                <a:solidFill>
                  <a:srgbClr val="0F172A"/>
                </a:solidFill>
              </a:rPr>
              <a:t>điểm dừng chính trong ngày</a:t>
            </a:r>
            <a:endParaRPr lang="en-US" sz="1300" dirty="0"/>
          </a:p>
        </p:txBody>
      </p:sp>
      <p:sp>
        <p:nvSpPr>
          <p:cNvPr id="17" name="Shape 15"/>
          <p:cNvSpPr/>
          <p:nvPr/>
        </p:nvSpPr>
        <p:spPr>
          <a:xfrm>
            <a:off x="6492240" y="5212080"/>
            <a:ext cx="1143000" cy="1143000"/>
          </a:xfrm>
          <a:prstGeom prst="ellipse">
            <a:avLst/>
          </a:prstGeom>
          <a:solidFill>
            <a:srgbClr val="14B8A6"/>
          </a:solidFill>
          <a:ln w="12700">
            <a:solidFill>
              <a:srgbClr val="14B8A6"/>
            </a:solidFill>
            <a:prstDash val="solid"/>
          </a:ln>
        </p:spPr>
      </p:sp>
      <p:sp>
        <p:nvSpPr>
          <p:cNvPr id="18" name="Text 16"/>
          <p:cNvSpPr/>
          <p:nvPr/>
        </p:nvSpPr>
        <p:spPr>
          <a:xfrm>
            <a:off x="6583680" y="5532120"/>
            <a:ext cx="960120" cy="274320"/>
          </a:xfrm>
          <a:prstGeom prst="rect">
            <a:avLst/>
          </a:prstGeom>
          <a:noFill/>
          <a:ln/>
        </p:spPr>
        <p:txBody>
          <a:bodyPr wrap="square" lIns="0" tIns="0" rIns="0" bIns="0" rtlCol="0" anchor="ctr"/>
          <a:lstStyle/>
          <a:p>
            <a:pPr algn="ctr" indent="0" marL="0">
              <a:buNone/>
            </a:pPr>
            <a:r>
              <a:rPr lang="en-US" sz="2200" b="1" dirty="0">
                <a:solidFill>
                  <a:srgbClr val="FFFFFF"/>
                </a:solidFill>
              </a:rPr>
              <a:t>1h</a:t>
            </a:r>
            <a:endParaRPr lang="en-US" sz="2200" dirty="0"/>
          </a:p>
        </p:txBody>
      </p:sp>
      <p:sp>
        <p:nvSpPr>
          <p:cNvPr id="19" name="Text 17"/>
          <p:cNvSpPr/>
          <p:nvPr/>
        </p:nvSpPr>
        <p:spPr>
          <a:xfrm>
            <a:off x="7818120" y="5458968"/>
            <a:ext cx="3291840" cy="502920"/>
          </a:xfrm>
          <a:prstGeom prst="rect">
            <a:avLst/>
          </a:prstGeom>
          <a:noFill/>
          <a:ln/>
        </p:spPr>
        <p:txBody>
          <a:bodyPr wrap="square" lIns="0" tIns="0" rIns="0" bIns="0" rtlCol="0" anchor="ctr"/>
          <a:lstStyle/>
          <a:p>
            <a:pPr indent="0" marL="0">
              <a:buNone/>
            </a:pPr>
            <a:r>
              <a:rPr lang="en-US" sz="1300" b="1" dirty="0">
                <a:solidFill>
                  <a:srgbClr val="0F172A"/>
                </a:solidFill>
              </a:rPr>
              <a:t>thời gian nghỉ tối thiểu</a:t>
            </a:r>
            <a:endParaRPr lang="en-US" sz="1300" dirty="0"/>
          </a:p>
        </p:txBody>
      </p:sp>
      <p:sp>
        <p:nvSpPr>
          <p:cNvPr id="20" name="Text 18"/>
          <p:cNvSpPr/>
          <p:nvPr/>
        </p:nvSpPr>
        <p:spPr>
          <a:xfrm>
            <a:off x="502920" y="6473952"/>
            <a:ext cx="3200400" cy="164592"/>
          </a:xfrm>
          <a:prstGeom prst="rect">
            <a:avLst/>
          </a:prstGeom>
          <a:noFill/>
          <a:ln/>
        </p:spPr>
        <p:txBody>
          <a:bodyPr wrap="square" lIns="0" tIns="0" rIns="0" bIns="0" rtlCol="0" anchor="ctr"/>
          <a:lstStyle/>
          <a:p>
            <a:pPr indent="0" marL="0">
              <a:buNone/>
            </a:pPr>
            <a:r>
              <a:rPr lang="en-US" sz="800" dirty="0">
                <a:solidFill>
                  <a:srgbClr val="64748B"/>
                </a:solidFill>
              </a:rPr>
              <a:t>Tài liệu kiểm thử PowerPoint</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F766E"/>
          </a:solidFill>
          <a:ln w="12700">
            <a:solidFill>
              <a:srgbClr val="0F766E"/>
            </a:solidFill>
            <a:prstDash val="solid"/>
          </a:ln>
        </p:spPr>
      </p:sp>
      <p:sp>
        <p:nvSpPr>
          <p:cNvPr id="3" name="Text 1"/>
          <p:cNvSpPr/>
          <p:nvPr/>
        </p:nvSpPr>
        <p:spPr>
          <a:xfrm>
            <a:off x="502920" y="228600"/>
            <a:ext cx="7772400" cy="4114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Ngày 2: Chợ nổi và mua quà</a:t>
            </a:r>
            <a:endParaRPr lang="en-US" sz="2400" dirty="0"/>
          </a:p>
        </p:txBody>
      </p:sp>
      <p:sp>
        <p:nvSpPr>
          <p:cNvPr id="4" name="Text 2"/>
          <p:cNvSpPr/>
          <p:nvPr/>
        </p:nvSpPr>
        <p:spPr>
          <a:xfrm>
            <a:off x="521208" y="658368"/>
            <a:ext cx="7772400" cy="228600"/>
          </a:xfrm>
          <a:prstGeom prst="rect">
            <a:avLst/>
          </a:prstGeom>
          <a:noFill/>
          <a:ln/>
        </p:spPr>
        <p:txBody>
          <a:bodyPr wrap="square" lIns="0" tIns="0" rIns="0" bIns="0" rtlCol="0" anchor="ctr"/>
          <a:lstStyle/>
          <a:p>
            <a:pPr indent="0" marL="0">
              <a:buNone/>
            </a:pPr>
            <a:r>
              <a:rPr lang="en-US" sz="1050" dirty="0">
                <a:solidFill>
                  <a:srgbClr val="E2E8F0"/>
                </a:solidFill>
                <a:latin typeface="Arial" pitchFamily="34" charset="0"/>
                <a:ea typeface="Arial" pitchFamily="34" charset="-122"/>
                <a:cs typeface="Arial" pitchFamily="34" charset="-120"/>
              </a:rPr>
              <a:t>Lịch nhẹ để về sớm, tránh mệt sau chuyến đi</a:t>
            </a:r>
            <a:endParaRPr lang="en-US" sz="1050" dirty="0"/>
          </a:p>
        </p:txBody>
      </p:sp>
      <p:sp>
        <p:nvSpPr>
          <p:cNvPr id="5" name="Text 3"/>
          <p:cNvSpPr/>
          <p:nvPr/>
        </p:nvSpPr>
        <p:spPr>
          <a:xfrm>
            <a:off x="640080" y="1234440"/>
            <a:ext cx="3657600" cy="365760"/>
          </a:xfrm>
          <a:prstGeom prst="rect">
            <a:avLst/>
          </a:prstGeom>
          <a:noFill/>
          <a:ln/>
        </p:spPr>
        <p:txBody>
          <a:bodyPr wrap="square" lIns="0" tIns="0" rIns="0" bIns="0" rtlCol="0" anchor="ctr"/>
          <a:lstStyle/>
          <a:p>
            <a:pPr indent="0" marL="0">
              <a:buNone/>
            </a:pPr>
            <a:r>
              <a:rPr lang="en-US" sz="2200" b="1" dirty="0">
                <a:solidFill>
                  <a:srgbClr val="0F172A"/>
                </a:solidFill>
              </a:rPr>
              <a:t>Khung giờ gợi ý</a:t>
            </a:r>
            <a:endParaRPr lang="en-US" sz="2200" dirty="0"/>
          </a:p>
        </p:txBody>
      </p:sp>
      <p:sp>
        <p:nvSpPr>
          <p:cNvPr id="6" name="Shape 4"/>
          <p:cNvSpPr/>
          <p:nvPr/>
        </p:nvSpPr>
        <p:spPr>
          <a:xfrm>
            <a:off x="822960" y="1828800"/>
            <a:ext cx="1143000" cy="411480"/>
          </a:xfrm>
          <a:prstGeom prst="rect">
            <a:avLst/>
          </a:prstGeom>
          <a:solidFill>
            <a:srgbClr val="CCFBF1"/>
          </a:solidFill>
          <a:ln w="12700">
            <a:solidFill>
              <a:srgbClr val="99F6E4"/>
            </a:solidFill>
            <a:prstDash val="solid"/>
          </a:ln>
        </p:spPr>
      </p:sp>
      <p:sp>
        <p:nvSpPr>
          <p:cNvPr id="7" name="Text 5"/>
          <p:cNvSpPr/>
          <p:nvPr/>
        </p:nvSpPr>
        <p:spPr>
          <a:xfrm>
            <a:off x="932688" y="1938528"/>
            <a:ext cx="914400" cy="164592"/>
          </a:xfrm>
          <a:prstGeom prst="rect">
            <a:avLst/>
          </a:prstGeom>
          <a:noFill/>
          <a:ln/>
        </p:spPr>
        <p:txBody>
          <a:bodyPr wrap="square" lIns="0" tIns="0" rIns="0" bIns="0" rtlCol="0" anchor="ctr"/>
          <a:lstStyle/>
          <a:p>
            <a:pPr indent="0" marL="0">
              <a:buNone/>
            </a:pPr>
            <a:r>
              <a:rPr lang="en-US" sz="1100" b="1" dirty="0">
                <a:solidFill>
                  <a:srgbClr val="134E4A"/>
                </a:solidFill>
              </a:rPr>
              <a:t>05:30</a:t>
            </a:r>
            <a:endParaRPr lang="en-US" sz="1100" dirty="0"/>
          </a:p>
        </p:txBody>
      </p:sp>
      <p:sp>
        <p:nvSpPr>
          <p:cNvPr id="8" name="Text 6"/>
          <p:cNvSpPr/>
          <p:nvPr/>
        </p:nvSpPr>
        <p:spPr>
          <a:xfrm>
            <a:off x="2148840" y="1911096"/>
            <a:ext cx="4937760" cy="228600"/>
          </a:xfrm>
          <a:prstGeom prst="rect">
            <a:avLst/>
          </a:prstGeom>
          <a:noFill/>
          <a:ln/>
        </p:spPr>
        <p:txBody>
          <a:bodyPr wrap="square" lIns="0" tIns="0" rIns="0" bIns="0" rtlCol="0" anchor="ctr"/>
          <a:lstStyle/>
          <a:p>
            <a:pPr indent="0" marL="0">
              <a:buNone/>
            </a:pPr>
            <a:r>
              <a:rPr lang="en-US" sz="1400" dirty="0">
                <a:solidFill>
                  <a:srgbClr val="1F2937"/>
                </a:solidFill>
              </a:rPr>
              <a:t>Xuất phát đi chợ nổi</a:t>
            </a:r>
            <a:endParaRPr lang="en-US" sz="1400" dirty="0"/>
          </a:p>
        </p:txBody>
      </p:sp>
      <p:sp>
        <p:nvSpPr>
          <p:cNvPr id="9" name="Shape 7"/>
          <p:cNvSpPr/>
          <p:nvPr/>
        </p:nvSpPr>
        <p:spPr>
          <a:xfrm>
            <a:off x="822960" y="2560320"/>
            <a:ext cx="1143000" cy="411480"/>
          </a:xfrm>
          <a:prstGeom prst="rect">
            <a:avLst/>
          </a:prstGeom>
          <a:solidFill>
            <a:srgbClr val="CCFBF1"/>
          </a:solidFill>
          <a:ln w="12700">
            <a:solidFill>
              <a:srgbClr val="99F6E4"/>
            </a:solidFill>
            <a:prstDash val="solid"/>
          </a:ln>
        </p:spPr>
      </p:sp>
      <p:sp>
        <p:nvSpPr>
          <p:cNvPr id="10" name="Text 8"/>
          <p:cNvSpPr/>
          <p:nvPr/>
        </p:nvSpPr>
        <p:spPr>
          <a:xfrm>
            <a:off x="932688" y="2670048"/>
            <a:ext cx="914400" cy="164592"/>
          </a:xfrm>
          <a:prstGeom prst="rect">
            <a:avLst/>
          </a:prstGeom>
          <a:noFill/>
          <a:ln/>
        </p:spPr>
        <p:txBody>
          <a:bodyPr wrap="square" lIns="0" tIns="0" rIns="0" bIns="0" rtlCol="0" anchor="ctr"/>
          <a:lstStyle/>
          <a:p>
            <a:pPr indent="0" marL="0">
              <a:buNone/>
            </a:pPr>
            <a:r>
              <a:rPr lang="en-US" sz="1100" b="1" dirty="0">
                <a:solidFill>
                  <a:srgbClr val="134E4A"/>
                </a:solidFill>
              </a:rPr>
              <a:t>07:30</a:t>
            </a:r>
            <a:endParaRPr lang="en-US" sz="1100" dirty="0"/>
          </a:p>
        </p:txBody>
      </p:sp>
      <p:sp>
        <p:nvSpPr>
          <p:cNvPr id="11" name="Text 9"/>
          <p:cNvSpPr/>
          <p:nvPr/>
        </p:nvSpPr>
        <p:spPr>
          <a:xfrm>
            <a:off x="2148840" y="2642616"/>
            <a:ext cx="4937760" cy="228600"/>
          </a:xfrm>
          <a:prstGeom prst="rect">
            <a:avLst/>
          </a:prstGeom>
          <a:noFill/>
          <a:ln/>
        </p:spPr>
        <p:txBody>
          <a:bodyPr wrap="square" lIns="0" tIns="0" rIns="0" bIns="0" rtlCol="0" anchor="ctr"/>
          <a:lstStyle/>
          <a:p>
            <a:pPr indent="0" marL="0">
              <a:buNone/>
            </a:pPr>
            <a:r>
              <a:rPr lang="en-US" sz="1400" dirty="0">
                <a:solidFill>
                  <a:srgbClr val="1F2937"/>
                </a:solidFill>
              </a:rPr>
              <a:t>Ăn sáng và uống cà phê</a:t>
            </a:r>
            <a:endParaRPr lang="en-US" sz="1400" dirty="0"/>
          </a:p>
        </p:txBody>
      </p:sp>
      <p:sp>
        <p:nvSpPr>
          <p:cNvPr id="12" name="Shape 10"/>
          <p:cNvSpPr/>
          <p:nvPr/>
        </p:nvSpPr>
        <p:spPr>
          <a:xfrm>
            <a:off x="822960" y="3291840"/>
            <a:ext cx="1143000" cy="411480"/>
          </a:xfrm>
          <a:prstGeom prst="rect">
            <a:avLst/>
          </a:prstGeom>
          <a:solidFill>
            <a:srgbClr val="CCFBF1"/>
          </a:solidFill>
          <a:ln w="12700">
            <a:solidFill>
              <a:srgbClr val="99F6E4"/>
            </a:solidFill>
            <a:prstDash val="solid"/>
          </a:ln>
        </p:spPr>
      </p:sp>
      <p:sp>
        <p:nvSpPr>
          <p:cNvPr id="13" name="Text 11"/>
          <p:cNvSpPr/>
          <p:nvPr/>
        </p:nvSpPr>
        <p:spPr>
          <a:xfrm>
            <a:off x="932688" y="3401568"/>
            <a:ext cx="914400" cy="164592"/>
          </a:xfrm>
          <a:prstGeom prst="rect">
            <a:avLst/>
          </a:prstGeom>
          <a:noFill/>
          <a:ln/>
        </p:spPr>
        <p:txBody>
          <a:bodyPr wrap="square" lIns="0" tIns="0" rIns="0" bIns="0" rtlCol="0" anchor="ctr"/>
          <a:lstStyle/>
          <a:p>
            <a:pPr indent="0" marL="0">
              <a:buNone/>
            </a:pPr>
            <a:r>
              <a:rPr lang="en-US" sz="1100" b="1" dirty="0">
                <a:solidFill>
                  <a:srgbClr val="134E4A"/>
                </a:solidFill>
              </a:rPr>
              <a:t>09:30</a:t>
            </a:r>
            <a:endParaRPr lang="en-US" sz="1100" dirty="0"/>
          </a:p>
        </p:txBody>
      </p:sp>
      <p:sp>
        <p:nvSpPr>
          <p:cNvPr id="14" name="Text 12"/>
          <p:cNvSpPr/>
          <p:nvPr/>
        </p:nvSpPr>
        <p:spPr>
          <a:xfrm>
            <a:off x="2148840" y="3374136"/>
            <a:ext cx="4937760" cy="228600"/>
          </a:xfrm>
          <a:prstGeom prst="rect">
            <a:avLst/>
          </a:prstGeom>
          <a:noFill/>
          <a:ln/>
        </p:spPr>
        <p:txBody>
          <a:bodyPr wrap="square" lIns="0" tIns="0" rIns="0" bIns="0" rtlCol="0" anchor="ctr"/>
          <a:lstStyle/>
          <a:p>
            <a:pPr indent="0" marL="0">
              <a:buNone/>
            </a:pPr>
            <a:r>
              <a:rPr lang="en-US" sz="1400" dirty="0">
                <a:solidFill>
                  <a:srgbClr val="1F2937"/>
                </a:solidFill>
              </a:rPr>
              <a:t>Mua quà địa phương</a:t>
            </a:r>
            <a:endParaRPr lang="en-US" sz="1400" dirty="0"/>
          </a:p>
        </p:txBody>
      </p:sp>
      <p:sp>
        <p:nvSpPr>
          <p:cNvPr id="15" name="Shape 13"/>
          <p:cNvSpPr/>
          <p:nvPr/>
        </p:nvSpPr>
        <p:spPr>
          <a:xfrm>
            <a:off x="822960" y="4023360"/>
            <a:ext cx="1143000" cy="411480"/>
          </a:xfrm>
          <a:prstGeom prst="rect">
            <a:avLst/>
          </a:prstGeom>
          <a:solidFill>
            <a:srgbClr val="CCFBF1"/>
          </a:solidFill>
          <a:ln w="12700">
            <a:solidFill>
              <a:srgbClr val="99F6E4"/>
            </a:solidFill>
            <a:prstDash val="solid"/>
          </a:ln>
        </p:spPr>
      </p:sp>
      <p:sp>
        <p:nvSpPr>
          <p:cNvPr id="16" name="Text 14"/>
          <p:cNvSpPr/>
          <p:nvPr/>
        </p:nvSpPr>
        <p:spPr>
          <a:xfrm>
            <a:off x="932688" y="4133088"/>
            <a:ext cx="914400" cy="164592"/>
          </a:xfrm>
          <a:prstGeom prst="rect">
            <a:avLst/>
          </a:prstGeom>
          <a:noFill/>
          <a:ln/>
        </p:spPr>
        <p:txBody>
          <a:bodyPr wrap="square" lIns="0" tIns="0" rIns="0" bIns="0" rtlCol="0" anchor="ctr"/>
          <a:lstStyle/>
          <a:p>
            <a:pPr indent="0" marL="0">
              <a:buNone/>
            </a:pPr>
            <a:r>
              <a:rPr lang="en-US" sz="1100" b="1" dirty="0">
                <a:solidFill>
                  <a:srgbClr val="134E4A"/>
                </a:solidFill>
              </a:rPr>
              <a:t>11:00</a:t>
            </a:r>
            <a:endParaRPr lang="en-US" sz="1100" dirty="0"/>
          </a:p>
        </p:txBody>
      </p:sp>
      <p:sp>
        <p:nvSpPr>
          <p:cNvPr id="17" name="Text 15"/>
          <p:cNvSpPr/>
          <p:nvPr/>
        </p:nvSpPr>
        <p:spPr>
          <a:xfrm>
            <a:off x="2148840" y="4105656"/>
            <a:ext cx="4937760" cy="228600"/>
          </a:xfrm>
          <a:prstGeom prst="rect">
            <a:avLst/>
          </a:prstGeom>
          <a:noFill/>
          <a:ln/>
        </p:spPr>
        <p:txBody>
          <a:bodyPr wrap="square" lIns="0" tIns="0" rIns="0" bIns="0" rtlCol="0" anchor="ctr"/>
          <a:lstStyle/>
          <a:p>
            <a:pPr indent="0" marL="0">
              <a:buNone/>
            </a:pPr>
            <a:r>
              <a:rPr lang="en-US" sz="1400" dirty="0">
                <a:solidFill>
                  <a:srgbClr val="1F2937"/>
                </a:solidFill>
              </a:rPr>
              <a:t>Trả phòng và về</a:t>
            </a:r>
            <a:endParaRPr lang="en-US" sz="1400" dirty="0"/>
          </a:p>
        </p:txBody>
      </p:sp>
      <p:sp>
        <p:nvSpPr>
          <p:cNvPr id="18" name="Shape 16"/>
          <p:cNvSpPr/>
          <p:nvPr/>
        </p:nvSpPr>
        <p:spPr>
          <a:xfrm>
            <a:off x="7909560" y="1828800"/>
            <a:ext cx="2057400" cy="2057400"/>
          </a:xfrm>
          <a:prstGeom prst="chevron">
            <a:avLst/>
          </a:prstGeom>
          <a:solidFill>
            <a:srgbClr val="0F766E"/>
          </a:solidFill>
          <a:ln w="12700">
            <a:solidFill>
              <a:srgbClr val="0F766E"/>
            </a:solidFill>
            <a:prstDash val="solid"/>
          </a:ln>
        </p:spPr>
      </p:sp>
      <p:sp>
        <p:nvSpPr>
          <p:cNvPr id="19" name="Text 17"/>
          <p:cNvSpPr/>
          <p:nvPr/>
        </p:nvSpPr>
        <p:spPr>
          <a:xfrm>
            <a:off x="8138160" y="2395728"/>
            <a:ext cx="1600200" cy="502920"/>
          </a:xfrm>
          <a:prstGeom prst="rect">
            <a:avLst/>
          </a:prstGeom>
          <a:noFill/>
          <a:ln/>
        </p:spPr>
        <p:txBody>
          <a:bodyPr wrap="square" lIns="0" tIns="0" rIns="0" bIns="0" rtlCol="0" anchor="ctr"/>
          <a:lstStyle/>
          <a:p>
            <a:pPr algn="ctr" indent="0" marL="0">
              <a:buNone/>
            </a:pPr>
            <a:r>
              <a:rPr lang="en-US" sz="2000" b="1" dirty="0">
                <a:solidFill>
                  <a:srgbClr val="FFFFFF"/>
                </a:solidFill>
              </a:rPr>
              <a:t>Về sớm</a:t>
            </a:r>
            <a:endParaRPr lang="en-US" sz="2000" dirty="0"/>
          </a:p>
          <a:p>
            <a:pPr algn="ctr" indent="0" marL="0">
              <a:buNone/>
            </a:pPr>
            <a:r>
              <a:rPr lang="en-US" sz="2000" b="1" dirty="0">
                <a:solidFill>
                  <a:srgbClr val="FFFFFF"/>
                </a:solidFill>
              </a:rPr>
              <a:t>khỏe hơn</a:t>
            </a:r>
            <a:endParaRPr lang="en-US" sz="2000" dirty="0"/>
          </a:p>
        </p:txBody>
      </p:sp>
      <p:sp>
        <p:nvSpPr>
          <p:cNvPr id="20" name="Text 18"/>
          <p:cNvSpPr/>
          <p:nvPr/>
        </p:nvSpPr>
        <p:spPr>
          <a:xfrm>
            <a:off x="502920" y="6473952"/>
            <a:ext cx="3200400" cy="164592"/>
          </a:xfrm>
          <a:prstGeom prst="rect">
            <a:avLst/>
          </a:prstGeom>
          <a:noFill/>
          <a:ln/>
        </p:spPr>
        <p:txBody>
          <a:bodyPr wrap="square" lIns="0" tIns="0" rIns="0" bIns="0" rtlCol="0" anchor="ctr"/>
          <a:lstStyle/>
          <a:p>
            <a:pPr indent="0" marL="0">
              <a:buNone/>
            </a:pPr>
            <a:r>
              <a:rPr lang="en-US" sz="800" dirty="0">
                <a:solidFill>
                  <a:srgbClr val="64748B"/>
                </a:solidFill>
              </a:rPr>
              <a:t>Tài liệu kiểm thử PowerPoint</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F766E"/>
          </a:solidFill>
          <a:ln w="12700">
            <a:solidFill>
              <a:srgbClr val="0F766E"/>
            </a:solidFill>
            <a:prstDash val="solid"/>
          </a:ln>
        </p:spPr>
      </p:sp>
      <p:sp>
        <p:nvSpPr>
          <p:cNvPr id="3" name="Text 1"/>
          <p:cNvSpPr/>
          <p:nvPr/>
        </p:nvSpPr>
        <p:spPr>
          <a:xfrm>
            <a:off x="502920" y="228600"/>
            <a:ext cx="7772400" cy="4114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Ngân sách và chuẩn bị</a:t>
            </a:r>
            <a:endParaRPr lang="en-US" sz="2400" dirty="0"/>
          </a:p>
        </p:txBody>
      </p:sp>
      <p:sp>
        <p:nvSpPr>
          <p:cNvPr id="4" name="Text 2"/>
          <p:cNvSpPr/>
          <p:nvPr/>
        </p:nvSpPr>
        <p:spPr>
          <a:xfrm>
            <a:off x="521208" y="658368"/>
            <a:ext cx="7772400" cy="228600"/>
          </a:xfrm>
          <a:prstGeom prst="rect">
            <a:avLst/>
          </a:prstGeom>
          <a:noFill/>
          <a:ln/>
        </p:spPr>
        <p:txBody>
          <a:bodyPr wrap="square" lIns="0" tIns="0" rIns="0" bIns="0" rtlCol="0" anchor="ctr"/>
          <a:lstStyle/>
          <a:p>
            <a:pPr indent="0" marL="0">
              <a:buNone/>
            </a:pPr>
            <a:r>
              <a:rPr lang="en-US" sz="1050" dirty="0">
                <a:solidFill>
                  <a:srgbClr val="E2E8F0"/>
                </a:solidFill>
                <a:latin typeface="Arial" pitchFamily="34" charset="0"/>
                <a:ea typeface="Arial" pitchFamily="34" charset="-122"/>
                <a:cs typeface="Arial" pitchFamily="34" charset="-120"/>
              </a:rPr>
              <a:t>Chia rõ tiền để chuyến đi dễ kiểm soát</a:t>
            </a:r>
            <a:endParaRPr lang="en-US" sz="1050" dirty="0"/>
          </a:p>
        </p:txBody>
      </p:sp>
      <p:sp>
        <p:nvSpPr>
          <p:cNvPr id="5" name="Shape 3"/>
          <p:cNvSpPr/>
          <p:nvPr/>
        </p:nvSpPr>
        <p:spPr>
          <a:xfrm>
            <a:off x="640080" y="1371600"/>
            <a:ext cx="5212080" cy="1874520"/>
          </a:xfrm>
          <a:prstGeom prst="roundRect">
            <a:avLst>
              <a:gd name="adj" fmla="val 3902"/>
            </a:avLst>
          </a:prstGeom>
          <a:solidFill>
            <a:srgbClr val="FFFFFF"/>
          </a:solidFill>
          <a:ln w="12700">
            <a:solidFill>
              <a:srgbClr val="CBD5E1"/>
            </a:solidFill>
            <a:prstDash val="solid"/>
          </a:ln>
        </p:spPr>
      </p:sp>
      <p:sp>
        <p:nvSpPr>
          <p:cNvPr id="6" name="Text 4"/>
          <p:cNvSpPr/>
          <p:nvPr/>
        </p:nvSpPr>
        <p:spPr>
          <a:xfrm>
            <a:off x="868680" y="1536192"/>
            <a:ext cx="4754880" cy="274320"/>
          </a:xfrm>
          <a:prstGeom prst="rect">
            <a:avLst/>
          </a:prstGeom>
          <a:noFill/>
          <a:ln/>
        </p:spPr>
        <p:txBody>
          <a:bodyPr wrap="square" lIns="0" tIns="0" rIns="0" bIns="0" rtlCol="0" anchor="ctr"/>
          <a:lstStyle/>
          <a:p>
            <a:pPr indent="0" marL="0">
              <a:buNone/>
            </a:pPr>
            <a:r>
              <a:rPr lang="en-US" sz="1600" b="1" dirty="0">
                <a:solidFill>
                  <a:srgbClr val="0F766E"/>
                </a:solidFill>
              </a:rPr>
              <a:t>Ngân sách dự kiến</a:t>
            </a:r>
            <a:endParaRPr lang="en-US" sz="1600" dirty="0"/>
          </a:p>
        </p:txBody>
      </p:sp>
      <p:sp>
        <p:nvSpPr>
          <p:cNvPr id="7" name="Text 5"/>
          <p:cNvSpPr/>
          <p:nvPr/>
        </p:nvSpPr>
        <p:spPr>
          <a:xfrm>
            <a:off x="914400" y="1938528"/>
            <a:ext cx="4617720" cy="1097280"/>
          </a:xfrm>
          <a:prstGeom prst="rect">
            <a:avLst/>
          </a:prstGeom>
          <a:noFill/>
          <a:ln/>
        </p:spPr>
        <p:txBody>
          <a:bodyPr wrap="square" lIns="508" tIns="508" rIns="508" bIns="508" rtlCol="0" anchor="t">
            <a:normAutofit/>
          </a:bodyPr>
          <a:lstStyle/>
          <a:p>
            <a:pPr indent="0" marL="0">
              <a:buNone/>
            </a:pPr>
            <a:r>
              <a:rPr lang="en-US" sz="1150" dirty="0">
                <a:solidFill>
                  <a:srgbClr val="1F2937"/>
                </a:solidFill>
              </a:rPr>
              <a:t>• Di chuyển: 35%</a:t>
            </a:r>
            <a:endParaRPr lang="en-US" sz="1150" dirty="0"/>
          </a:p>
          <a:p>
            <a:pPr indent="0" marL="0">
              <a:buNone/>
            </a:pPr>
            <a:r>
              <a:rPr lang="en-US" sz="1150" dirty="0">
                <a:solidFill>
                  <a:srgbClr val="1F2937"/>
                </a:solidFill>
              </a:rPr>
              <a:t>• Ăn uống: 30%</a:t>
            </a:r>
            <a:endParaRPr lang="en-US" sz="1150" dirty="0"/>
          </a:p>
          <a:p>
            <a:pPr indent="0" marL="0">
              <a:buNone/>
            </a:pPr>
            <a:r>
              <a:rPr lang="en-US" sz="1150" dirty="0">
                <a:solidFill>
                  <a:srgbClr val="1F2937"/>
                </a:solidFill>
              </a:rPr>
              <a:t>• Lưu trú: 25%</a:t>
            </a:r>
            <a:endParaRPr lang="en-US" sz="1150" dirty="0"/>
          </a:p>
          <a:p>
            <a:pPr indent="0" marL="0">
              <a:buNone/>
            </a:pPr>
            <a:r>
              <a:rPr lang="en-US" sz="1150" dirty="0">
                <a:solidFill>
                  <a:srgbClr val="1F2937"/>
                </a:solidFill>
              </a:rPr>
              <a:t>• Dự phòng: 10%</a:t>
            </a:r>
            <a:endParaRPr lang="en-US" sz="1150" dirty="0"/>
          </a:p>
        </p:txBody>
      </p:sp>
      <p:sp>
        <p:nvSpPr>
          <p:cNvPr id="8" name="Shape 6"/>
          <p:cNvSpPr/>
          <p:nvPr/>
        </p:nvSpPr>
        <p:spPr>
          <a:xfrm>
            <a:off x="6309360" y="1371600"/>
            <a:ext cx="5212080" cy="1874520"/>
          </a:xfrm>
          <a:prstGeom prst="roundRect">
            <a:avLst>
              <a:gd name="adj" fmla="val 3902"/>
            </a:avLst>
          </a:prstGeom>
          <a:solidFill>
            <a:srgbClr val="FFFFFF"/>
          </a:solidFill>
          <a:ln w="12700">
            <a:solidFill>
              <a:srgbClr val="CBD5E1"/>
            </a:solidFill>
            <a:prstDash val="solid"/>
          </a:ln>
        </p:spPr>
      </p:sp>
      <p:sp>
        <p:nvSpPr>
          <p:cNvPr id="9" name="Text 7"/>
          <p:cNvSpPr/>
          <p:nvPr/>
        </p:nvSpPr>
        <p:spPr>
          <a:xfrm>
            <a:off x="6537960" y="1536192"/>
            <a:ext cx="4754880" cy="274320"/>
          </a:xfrm>
          <a:prstGeom prst="rect">
            <a:avLst/>
          </a:prstGeom>
          <a:noFill/>
          <a:ln/>
        </p:spPr>
        <p:txBody>
          <a:bodyPr wrap="square" lIns="0" tIns="0" rIns="0" bIns="0" rtlCol="0" anchor="ctr"/>
          <a:lstStyle/>
          <a:p>
            <a:pPr indent="0" marL="0">
              <a:buNone/>
            </a:pPr>
            <a:r>
              <a:rPr lang="en-US" sz="1600" b="1" dirty="0">
                <a:solidFill>
                  <a:srgbClr val="0F766E"/>
                </a:solidFill>
              </a:rPr>
              <a:t>Đồ nên mang</a:t>
            </a:r>
            <a:endParaRPr lang="en-US" sz="1600" dirty="0"/>
          </a:p>
        </p:txBody>
      </p:sp>
      <p:sp>
        <p:nvSpPr>
          <p:cNvPr id="10" name="Text 8"/>
          <p:cNvSpPr/>
          <p:nvPr/>
        </p:nvSpPr>
        <p:spPr>
          <a:xfrm>
            <a:off x="6583680" y="1938528"/>
            <a:ext cx="4617720" cy="1097280"/>
          </a:xfrm>
          <a:prstGeom prst="rect">
            <a:avLst/>
          </a:prstGeom>
          <a:noFill/>
          <a:ln/>
        </p:spPr>
        <p:txBody>
          <a:bodyPr wrap="square" lIns="508" tIns="508" rIns="508" bIns="508" rtlCol="0" anchor="t">
            <a:normAutofit/>
          </a:bodyPr>
          <a:lstStyle/>
          <a:p>
            <a:pPr indent="0" marL="0">
              <a:buNone/>
            </a:pPr>
            <a:r>
              <a:rPr lang="en-US" sz="1150" dirty="0">
                <a:solidFill>
                  <a:srgbClr val="1F2937"/>
                </a:solidFill>
              </a:rPr>
              <a:t>• Giấy tờ tùy thân</a:t>
            </a:r>
            <a:endParaRPr lang="en-US" sz="1150" dirty="0"/>
          </a:p>
          <a:p>
            <a:pPr indent="0" marL="0">
              <a:buNone/>
            </a:pPr>
            <a:r>
              <a:rPr lang="en-US" sz="1150" dirty="0">
                <a:solidFill>
                  <a:srgbClr val="1F2937"/>
                </a:solidFill>
              </a:rPr>
              <a:t>• Sạc dự phòng</a:t>
            </a:r>
            <a:endParaRPr lang="en-US" sz="1150" dirty="0"/>
          </a:p>
          <a:p>
            <a:pPr indent="0" marL="0">
              <a:buNone/>
            </a:pPr>
            <a:r>
              <a:rPr lang="en-US" sz="1150" dirty="0">
                <a:solidFill>
                  <a:srgbClr val="1F2937"/>
                </a:solidFill>
              </a:rPr>
              <a:t>• Áo mưa mỏng</a:t>
            </a:r>
            <a:endParaRPr lang="en-US" sz="1150" dirty="0"/>
          </a:p>
          <a:p>
            <a:pPr indent="0" marL="0">
              <a:buNone/>
            </a:pPr>
            <a:r>
              <a:rPr lang="en-US" sz="1150" dirty="0">
                <a:solidFill>
                  <a:srgbClr val="1F2937"/>
                </a:solidFill>
              </a:rPr>
              <a:t>• Thuốc cá nhân</a:t>
            </a:r>
            <a:endParaRPr lang="en-US" sz="1150" dirty="0"/>
          </a:p>
        </p:txBody>
      </p:sp>
      <p:sp>
        <p:nvSpPr>
          <p:cNvPr id="11" name="Text 9"/>
          <p:cNvSpPr/>
          <p:nvPr/>
        </p:nvSpPr>
        <p:spPr>
          <a:xfrm>
            <a:off x="914400" y="4754880"/>
            <a:ext cx="9692640" cy="502920"/>
          </a:xfrm>
          <a:prstGeom prst="rect">
            <a:avLst/>
          </a:prstGeom>
          <a:noFill/>
          <a:ln/>
        </p:spPr>
        <p:txBody>
          <a:bodyPr wrap="square" lIns="0" tIns="0" rIns="0" bIns="0" rtlCol="0" anchor="ctr"/>
          <a:lstStyle/>
          <a:p>
            <a:pPr algn="ctr" indent="0" marL="0">
              <a:buNone/>
            </a:pPr>
            <a:r>
              <a:rPr lang="en-US" sz="1800" b="1" dirty="0">
                <a:solidFill>
                  <a:srgbClr val="0F172A"/>
                </a:solidFill>
              </a:rPr>
              <a:t>Nguyên tắc: giữ lịch trình linh hoạt, không ép nhóm đi quá nhiều điểm trong một ngày.</a:t>
            </a:r>
            <a:endParaRPr lang="en-US" sz="1800" dirty="0"/>
          </a:p>
        </p:txBody>
      </p:sp>
      <p:sp>
        <p:nvSpPr>
          <p:cNvPr id="12" name="Text 10"/>
          <p:cNvSpPr/>
          <p:nvPr/>
        </p:nvSpPr>
        <p:spPr>
          <a:xfrm>
            <a:off x="502920" y="6473952"/>
            <a:ext cx="3200400" cy="164592"/>
          </a:xfrm>
          <a:prstGeom prst="rect">
            <a:avLst/>
          </a:prstGeom>
          <a:noFill/>
          <a:ln/>
        </p:spPr>
        <p:txBody>
          <a:bodyPr wrap="square" lIns="0" tIns="0" rIns="0" bIns="0" rtlCol="0" anchor="ctr"/>
          <a:lstStyle/>
          <a:p>
            <a:pPr indent="0" marL="0">
              <a:buNone/>
            </a:pPr>
            <a:r>
              <a:rPr lang="en-US" sz="800" dirty="0">
                <a:solidFill>
                  <a:srgbClr val="64748B"/>
                </a:solidFill>
              </a:rPr>
              <a:t>Tài liệu kiểm thử PowerPoint</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F766E"/>
          </a:solidFill>
          <a:ln w="12700">
            <a:solidFill>
              <a:srgbClr val="0F766E"/>
            </a:solidFill>
            <a:prstDash val="solid"/>
          </a:ln>
        </p:spPr>
      </p:sp>
      <p:sp>
        <p:nvSpPr>
          <p:cNvPr id="3" name="Text 1"/>
          <p:cNvSpPr/>
          <p:nvPr/>
        </p:nvSpPr>
        <p:spPr>
          <a:xfrm>
            <a:off x="502920" y="228600"/>
            <a:ext cx="7772400" cy="4114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Tổng kết chuyến đi</a:t>
            </a:r>
            <a:endParaRPr lang="en-US" sz="2400" dirty="0"/>
          </a:p>
        </p:txBody>
      </p:sp>
      <p:sp>
        <p:nvSpPr>
          <p:cNvPr id="4" name="Text 2"/>
          <p:cNvSpPr/>
          <p:nvPr/>
        </p:nvSpPr>
        <p:spPr>
          <a:xfrm>
            <a:off x="521208" y="658368"/>
            <a:ext cx="7772400" cy="228600"/>
          </a:xfrm>
          <a:prstGeom prst="rect">
            <a:avLst/>
          </a:prstGeom>
          <a:noFill/>
          <a:ln/>
        </p:spPr>
        <p:txBody>
          <a:bodyPr wrap="square" lIns="0" tIns="0" rIns="0" bIns="0" rtlCol="0" anchor="ctr"/>
          <a:lstStyle/>
          <a:p>
            <a:pPr indent="0" marL="0">
              <a:buNone/>
            </a:pPr>
            <a:r>
              <a:rPr lang="en-US" sz="1050" dirty="0">
                <a:solidFill>
                  <a:srgbClr val="E2E8F0"/>
                </a:solidFill>
                <a:latin typeface="Arial" pitchFamily="34" charset="0"/>
                <a:ea typeface="Arial" pitchFamily="34" charset="-122"/>
                <a:cs typeface="Arial" pitchFamily="34" charset="-120"/>
              </a:rPr>
              <a:t>Một lịch trình vừa đủ cho cuối tuần</a:t>
            </a:r>
            <a:endParaRPr lang="en-US" sz="1050" dirty="0"/>
          </a:p>
        </p:txBody>
      </p:sp>
      <p:sp>
        <p:nvSpPr>
          <p:cNvPr id="5" name="Text 3"/>
          <p:cNvSpPr/>
          <p:nvPr/>
        </p:nvSpPr>
        <p:spPr>
          <a:xfrm>
            <a:off x="960120" y="1645920"/>
            <a:ext cx="9784080" cy="960120"/>
          </a:xfrm>
          <a:prstGeom prst="rect">
            <a:avLst/>
          </a:prstGeom>
          <a:noFill/>
          <a:ln/>
        </p:spPr>
        <p:txBody>
          <a:bodyPr wrap="square" lIns="0" tIns="0" rIns="0" bIns="0" rtlCol="0" anchor="ctr">
            <a:normAutofit/>
          </a:bodyPr>
          <a:lstStyle/>
          <a:p>
            <a:pPr algn="ctr" indent="0" marL="0">
              <a:buNone/>
            </a:pPr>
            <a:r>
              <a:rPr lang="en-US" sz="2000" dirty="0">
                <a:solidFill>
                  <a:srgbClr val="334155"/>
                </a:solidFill>
              </a:rPr>
              <a:t>Điểm mạnh của kế hoạch là thời gian di chuyển ngắn, hoạt động đa dạng và có khoảng nghỉ. Khi áp dụng thực tế, nhóm chỉ cần cập nhật giá phòng, thời tiết và phương tiện trước ngày khởi hành.</a:t>
            </a:r>
            <a:endParaRPr lang="en-US" sz="2000" dirty="0"/>
          </a:p>
        </p:txBody>
      </p:sp>
      <p:sp>
        <p:nvSpPr>
          <p:cNvPr id="6" name="Shape 4"/>
          <p:cNvSpPr/>
          <p:nvPr/>
        </p:nvSpPr>
        <p:spPr>
          <a:xfrm>
            <a:off x="1554480" y="3474720"/>
            <a:ext cx="1143000" cy="1143000"/>
          </a:xfrm>
          <a:prstGeom prst="ellipse">
            <a:avLst/>
          </a:prstGeom>
          <a:solidFill>
            <a:srgbClr val="0F766E"/>
          </a:solidFill>
          <a:ln w="12700">
            <a:solidFill>
              <a:srgbClr val="0F766E"/>
            </a:solidFill>
            <a:prstDash val="solid"/>
          </a:ln>
        </p:spPr>
      </p:sp>
      <p:sp>
        <p:nvSpPr>
          <p:cNvPr id="7" name="Text 5"/>
          <p:cNvSpPr/>
          <p:nvPr/>
        </p:nvSpPr>
        <p:spPr>
          <a:xfrm>
            <a:off x="1645920" y="3794760"/>
            <a:ext cx="960120" cy="274320"/>
          </a:xfrm>
          <a:prstGeom prst="rect">
            <a:avLst/>
          </a:prstGeom>
          <a:noFill/>
          <a:ln/>
        </p:spPr>
        <p:txBody>
          <a:bodyPr wrap="square" lIns="0" tIns="0" rIns="0" bIns="0" rtlCol="0" anchor="ctr"/>
          <a:lstStyle/>
          <a:p>
            <a:pPr algn="ctr" indent="0" marL="0">
              <a:buNone/>
            </a:pPr>
            <a:r>
              <a:rPr lang="en-US" sz="2200" b="1" dirty="0">
                <a:solidFill>
                  <a:srgbClr val="FFFFFF"/>
                </a:solidFill>
              </a:rPr>
              <a:t>4</a:t>
            </a:r>
            <a:endParaRPr lang="en-US" sz="2200" dirty="0"/>
          </a:p>
        </p:txBody>
      </p:sp>
      <p:sp>
        <p:nvSpPr>
          <p:cNvPr id="8" name="Text 6"/>
          <p:cNvSpPr/>
          <p:nvPr/>
        </p:nvSpPr>
        <p:spPr>
          <a:xfrm>
            <a:off x="2880360" y="3721608"/>
            <a:ext cx="3291840" cy="502920"/>
          </a:xfrm>
          <a:prstGeom prst="rect">
            <a:avLst/>
          </a:prstGeom>
          <a:noFill/>
          <a:ln/>
        </p:spPr>
        <p:txBody>
          <a:bodyPr wrap="square" lIns="0" tIns="0" rIns="0" bIns="0" rtlCol="0" anchor="ctr"/>
          <a:lstStyle/>
          <a:p>
            <a:pPr indent="0" marL="0">
              <a:buNone/>
            </a:pPr>
            <a:r>
              <a:rPr lang="en-US" sz="1300" b="1" dirty="0">
                <a:solidFill>
                  <a:srgbClr val="0F172A"/>
                </a:solidFill>
              </a:rPr>
              <a:t>mốc thời gian cần nhớ</a:t>
            </a:r>
            <a:endParaRPr lang="en-US" sz="1300" dirty="0"/>
          </a:p>
        </p:txBody>
      </p:sp>
      <p:sp>
        <p:nvSpPr>
          <p:cNvPr id="9" name="Shape 7"/>
          <p:cNvSpPr/>
          <p:nvPr/>
        </p:nvSpPr>
        <p:spPr>
          <a:xfrm>
            <a:off x="7498080" y="3474720"/>
            <a:ext cx="1143000" cy="1143000"/>
          </a:xfrm>
          <a:prstGeom prst="ellipse">
            <a:avLst/>
          </a:prstGeom>
          <a:solidFill>
            <a:srgbClr val="0F766E"/>
          </a:solidFill>
          <a:ln w="12700">
            <a:solidFill>
              <a:srgbClr val="0F766E"/>
            </a:solidFill>
            <a:prstDash val="solid"/>
          </a:ln>
        </p:spPr>
      </p:sp>
      <p:sp>
        <p:nvSpPr>
          <p:cNvPr id="10" name="Text 8"/>
          <p:cNvSpPr/>
          <p:nvPr/>
        </p:nvSpPr>
        <p:spPr>
          <a:xfrm>
            <a:off x="7589520" y="3794760"/>
            <a:ext cx="960120" cy="274320"/>
          </a:xfrm>
          <a:prstGeom prst="rect">
            <a:avLst/>
          </a:prstGeom>
          <a:noFill/>
          <a:ln/>
        </p:spPr>
        <p:txBody>
          <a:bodyPr wrap="square" lIns="0" tIns="0" rIns="0" bIns="0" rtlCol="0" anchor="ctr"/>
          <a:lstStyle/>
          <a:p>
            <a:pPr algn="ctr" indent="0" marL="0">
              <a:buNone/>
            </a:pPr>
            <a:r>
              <a:rPr lang="en-US" sz="2200" b="1" dirty="0">
                <a:solidFill>
                  <a:srgbClr val="FFFFFF"/>
                </a:solidFill>
              </a:rPr>
              <a:t>10%</a:t>
            </a:r>
            <a:endParaRPr lang="en-US" sz="2200" dirty="0"/>
          </a:p>
        </p:txBody>
      </p:sp>
      <p:sp>
        <p:nvSpPr>
          <p:cNvPr id="11" name="Text 9"/>
          <p:cNvSpPr/>
          <p:nvPr/>
        </p:nvSpPr>
        <p:spPr>
          <a:xfrm>
            <a:off x="8823960" y="3721608"/>
            <a:ext cx="3291840" cy="502920"/>
          </a:xfrm>
          <a:prstGeom prst="rect">
            <a:avLst/>
          </a:prstGeom>
          <a:noFill/>
          <a:ln/>
        </p:spPr>
        <p:txBody>
          <a:bodyPr wrap="square" lIns="0" tIns="0" rIns="0" bIns="0" rtlCol="0" anchor="ctr"/>
          <a:lstStyle/>
          <a:p>
            <a:pPr indent="0" marL="0">
              <a:buNone/>
            </a:pPr>
            <a:r>
              <a:rPr lang="en-US" sz="1300" b="1" dirty="0">
                <a:solidFill>
                  <a:srgbClr val="0F172A"/>
                </a:solidFill>
              </a:rPr>
              <a:t>ngân sách dự phòng</a:t>
            </a:r>
            <a:endParaRPr lang="en-US" sz="1300" dirty="0"/>
          </a:p>
        </p:txBody>
      </p:sp>
      <p:sp>
        <p:nvSpPr>
          <p:cNvPr id="12" name="Text 10"/>
          <p:cNvSpPr/>
          <p:nvPr/>
        </p:nvSpPr>
        <p:spPr>
          <a:xfrm>
            <a:off x="502920" y="6473952"/>
            <a:ext cx="3200400" cy="164592"/>
          </a:xfrm>
          <a:prstGeom prst="rect">
            <a:avLst/>
          </a:prstGeom>
          <a:noFill/>
          <a:ln/>
        </p:spPr>
        <p:txBody>
          <a:bodyPr wrap="square" lIns="0" tIns="0" rIns="0" bIns="0" rtlCol="0" anchor="ctr"/>
          <a:lstStyle/>
          <a:p>
            <a:pPr indent="0" marL="0">
              <a:buNone/>
            </a:pPr>
            <a:r>
              <a:rPr lang="en-US" sz="800" dirty="0">
                <a:solidFill>
                  <a:srgbClr val="64748B"/>
                </a:solidFill>
              </a:rPr>
              <a:t>Tài liệu kiểm thử PowerPoint</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Lịch trình Cần Thơ cuối tuần</dc:title>
  <dc:subject>Du lịch Cần Thơ</dc:subject>
  <dc:creator>OpenAI</dc:creator>
  <cp:lastModifiedBy>OpenAI</cp:lastModifiedBy>
  <cp:revision>1</cp:revision>
  <dcterms:created xsi:type="dcterms:W3CDTF">2026-05-21T05:05:44Z</dcterms:created>
  <dcterms:modified xsi:type="dcterms:W3CDTF">2026-05-21T05:05:44Z</dcterms:modified>
</cp:coreProperties>
</file>