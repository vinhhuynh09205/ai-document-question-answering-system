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D4ED8"/>
          </a:solidFill>
          <a:ln w="12700">
            <a:solidFill>
              <a:srgbClr val="1D4ED8"/>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Chiến dịch trồng cây trường học</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Kế hoạch 4 tuần cho khuôn viên xanh hơn</a:t>
            </a:r>
            <a:endParaRPr lang="en-US" sz="1050" dirty="0"/>
          </a:p>
        </p:txBody>
      </p:sp>
      <p:sp>
        <p:nvSpPr>
          <p:cNvPr id="5" name="Text 3"/>
          <p:cNvSpPr/>
          <p:nvPr/>
        </p:nvSpPr>
        <p:spPr>
          <a:xfrm>
            <a:off x="731520" y="1508760"/>
            <a:ext cx="4023360" cy="365760"/>
          </a:xfrm>
          <a:prstGeom prst="rect">
            <a:avLst/>
          </a:prstGeom>
          <a:noFill/>
          <a:ln/>
        </p:spPr>
        <p:txBody>
          <a:bodyPr wrap="square" lIns="0" tIns="0" rIns="0" bIns="0" rtlCol="0" anchor="ctr"/>
          <a:lstStyle/>
          <a:p>
            <a:pPr indent="0" marL="0">
              <a:buNone/>
            </a:pPr>
            <a:r>
              <a:rPr lang="en-US" sz="2400" b="1" dirty="0">
                <a:solidFill>
                  <a:srgbClr val="0F172A"/>
                </a:solidFill>
              </a:rPr>
              <a:t>Ý tưởng chính</a:t>
            </a:r>
            <a:endParaRPr lang="en-US" sz="2400" dirty="0"/>
          </a:p>
        </p:txBody>
      </p:sp>
      <p:sp>
        <p:nvSpPr>
          <p:cNvPr id="6" name="Text 4"/>
          <p:cNvSpPr/>
          <p:nvPr/>
        </p:nvSpPr>
        <p:spPr>
          <a:xfrm>
            <a:off x="731520" y="1965960"/>
            <a:ext cx="4937760" cy="960120"/>
          </a:xfrm>
          <a:prstGeom prst="rect">
            <a:avLst/>
          </a:prstGeom>
          <a:noFill/>
          <a:ln/>
        </p:spPr>
        <p:txBody>
          <a:bodyPr wrap="square" lIns="0" tIns="0" rIns="0" bIns="0" rtlCol="0" anchor="ctr">
            <a:normAutofit/>
          </a:bodyPr>
          <a:lstStyle/>
          <a:p>
            <a:pPr indent="0" marL="0">
              <a:buNone/>
            </a:pPr>
            <a:r>
              <a:rPr lang="en-US" sz="1600" dirty="0">
                <a:solidFill>
                  <a:srgbClr val="334155"/>
                </a:solidFill>
              </a:rPr>
              <a:t>Chiến dịch kết hợp giáo dục môi trường, hoạt động nhóm và theo dõi cây sau khi trồng. Mục tiêu không chỉ là trồng nhiều cây mà còn duy trì cây sống tốt.</a:t>
            </a:r>
            <a:endParaRPr lang="en-US" sz="1600" dirty="0"/>
          </a:p>
        </p:txBody>
      </p:sp>
      <p:sp>
        <p:nvSpPr>
          <p:cNvPr id="7" name="Shape 5"/>
          <p:cNvSpPr/>
          <p:nvPr/>
        </p:nvSpPr>
        <p:spPr>
          <a:xfrm>
            <a:off x="7406640" y="1325880"/>
            <a:ext cx="2194560" cy="2194560"/>
          </a:xfrm>
          <a:prstGeom prst="ellipse">
            <a:avLst/>
          </a:prstGeom>
          <a:solidFill>
            <a:srgbClr val="DCFCE7"/>
          </a:solidFill>
          <a:ln w="25400">
            <a:solidFill>
              <a:srgbClr val="166534"/>
            </a:solidFill>
            <a:prstDash val="solid"/>
          </a:ln>
        </p:spPr>
      </p:sp>
      <p:sp>
        <p:nvSpPr>
          <p:cNvPr id="8" name="Shape 6"/>
          <p:cNvSpPr/>
          <p:nvPr/>
        </p:nvSpPr>
        <p:spPr>
          <a:xfrm>
            <a:off x="8001000" y="1645920"/>
            <a:ext cx="1005840" cy="1097280"/>
          </a:xfrm>
          <a:prstGeom prst="triangle">
            <a:avLst/>
          </a:prstGeom>
          <a:solidFill>
            <a:srgbClr val="22C55E"/>
          </a:solidFill>
          <a:ln w="12700">
            <a:solidFill>
              <a:srgbClr val="166534"/>
            </a:solidFill>
            <a:prstDash val="solid"/>
          </a:ln>
        </p:spPr>
      </p:sp>
      <p:sp>
        <p:nvSpPr>
          <p:cNvPr id="9" name="Text 7"/>
          <p:cNvSpPr/>
          <p:nvPr/>
        </p:nvSpPr>
        <p:spPr>
          <a:xfrm>
            <a:off x="6675120" y="3840480"/>
            <a:ext cx="3657600" cy="548640"/>
          </a:xfrm>
          <a:prstGeom prst="rect">
            <a:avLst/>
          </a:prstGeom>
          <a:noFill/>
          <a:ln/>
        </p:spPr>
        <p:txBody>
          <a:bodyPr wrap="square" lIns="0" tIns="0" rIns="0" bIns="0" rtlCol="0" anchor="ctr"/>
          <a:lstStyle/>
          <a:p>
            <a:pPr algn="ctr" indent="0" marL="0">
              <a:buNone/>
            </a:pPr>
            <a:r>
              <a:rPr lang="en-US" sz="2600" b="1" dirty="0">
                <a:solidFill>
                  <a:srgbClr val="1D4ED8"/>
                </a:solidFill>
              </a:rPr>
              <a:t>Xanh hơn</a:t>
            </a:r>
            <a:endParaRPr lang="en-US" sz="2600" dirty="0"/>
          </a:p>
          <a:p>
            <a:pPr algn="ctr" indent="0" marL="0">
              <a:buNone/>
            </a:pPr>
            <a:r>
              <a:rPr lang="en-US" sz="2600" b="1" dirty="0">
                <a:solidFill>
                  <a:srgbClr val="1D4ED8"/>
                </a:solidFill>
              </a:rPr>
              <a:t>mỗi tuần</a:t>
            </a:r>
            <a:endParaRPr lang="en-US" sz="2600" dirty="0"/>
          </a:p>
        </p:txBody>
      </p:sp>
      <p:sp>
        <p:nvSpPr>
          <p:cNvPr id="10" name="Text 8"/>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D4ED8"/>
          </a:solidFill>
          <a:ln w="12700">
            <a:solidFill>
              <a:srgbClr val="1D4ED8"/>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Tuần 1: Khảo sát và chọn cây</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Chọn đúng vị trí giúp cây sống lâu hơn</a:t>
            </a:r>
            <a:endParaRPr lang="en-US" sz="1050" dirty="0"/>
          </a:p>
        </p:txBody>
      </p:sp>
      <p:sp>
        <p:nvSpPr>
          <p:cNvPr id="5" name="Shape 3"/>
          <p:cNvSpPr/>
          <p:nvPr/>
        </p:nvSpPr>
        <p:spPr>
          <a:xfrm>
            <a:off x="640080" y="1371600"/>
            <a:ext cx="5212080" cy="1874520"/>
          </a:xfrm>
          <a:prstGeom prst="roundRect">
            <a:avLst>
              <a:gd name="adj" fmla="val 3902"/>
            </a:avLst>
          </a:prstGeom>
          <a:solidFill>
            <a:srgbClr val="FFFFFF"/>
          </a:solidFill>
          <a:ln w="12700">
            <a:solidFill>
              <a:srgbClr val="CBD5E1"/>
            </a:solidFill>
            <a:prstDash val="solid"/>
          </a:ln>
        </p:spPr>
      </p:sp>
      <p:sp>
        <p:nvSpPr>
          <p:cNvPr id="6" name="Text 4"/>
          <p:cNvSpPr/>
          <p:nvPr/>
        </p:nvSpPr>
        <p:spPr>
          <a:xfrm>
            <a:off x="868680" y="153619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Khảo sát</a:t>
            </a:r>
            <a:endParaRPr lang="en-US" sz="1600" dirty="0"/>
          </a:p>
        </p:txBody>
      </p:sp>
      <p:sp>
        <p:nvSpPr>
          <p:cNvPr id="7" name="Text 5"/>
          <p:cNvSpPr/>
          <p:nvPr/>
        </p:nvSpPr>
        <p:spPr>
          <a:xfrm>
            <a:off x="914400" y="1938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Đo khu vực nắng nhiều</a:t>
            </a:r>
            <a:endParaRPr lang="en-US" sz="1150" dirty="0"/>
          </a:p>
          <a:p>
            <a:pPr indent="0" marL="0">
              <a:buNone/>
            </a:pPr>
            <a:r>
              <a:rPr lang="en-US" sz="1150" dirty="0">
                <a:solidFill>
                  <a:srgbClr val="1F2937"/>
                </a:solidFill>
              </a:rPr>
              <a:t>• Kiểm tra nguồn nước tưới</a:t>
            </a:r>
            <a:endParaRPr lang="en-US" sz="1150" dirty="0"/>
          </a:p>
          <a:p>
            <a:pPr indent="0" marL="0">
              <a:buNone/>
            </a:pPr>
            <a:r>
              <a:rPr lang="en-US" sz="1150" dirty="0">
                <a:solidFill>
                  <a:srgbClr val="1F2937"/>
                </a:solidFill>
              </a:rPr>
              <a:t>• Đánh dấu vị trí tránh lối đi</a:t>
            </a:r>
            <a:endParaRPr lang="en-US" sz="1150" dirty="0"/>
          </a:p>
        </p:txBody>
      </p:sp>
      <p:sp>
        <p:nvSpPr>
          <p:cNvPr id="8" name="Shape 6"/>
          <p:cNvSpPr/>
          <p:nvPr/>
        </p:nvSpPr>
        <p:spPr>
          <a:xfrm>
            <a:off x="6309360" y="1371600"/>
            <a:ext cx="5212080" cy="1874520"/>
          </a:xfrm>
          <a:prstGeom prst="roundRect">
            <a:avLst>
              <a:gd name="adj" fmla="val 3902"/>
            </a:avLst>
          </a:prstGeom>
          <a:solidFill>
            <a:srgbClr val="FFFFFF"/>
          </a:solidFill>
          <a:ln w="12700">
            <a:solidFill>
              <a:srgbClr val="CBD5E1"/>
            </a:solidFill>
            <a:prstDash val="solid"/>
          </a:ln>
        </p:spPr>
      </p:sp>
      <p:sp>
        <p:nvSpPr>
          <p:cNvPr id="9" name="Text 7"/>
          <p:cNvSpPr/>
          <p:nvPr/>
        </p:nvSpPr>
        <p:spPr>
          <a:xfrm>
            <a:off x="6537960" y="153619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Chọn cây</a:t>
            </a:r>
            <a:endParaRPr lang="en-US" sz="1600" dirty="0"/>
          </a:p>
        </p:txBody>
      </p:sp>
      <p:sp>
        <p:nvSpPr>
          <p:cNvPr id="10" name="Text 8"/>
          <p:cNvSpPr/>
          <p:nvPr/>
        </p:nvSpPr>
        <p:spPr>
          <a:xfrm>
            <a:off x="6583680" y="1938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Ưu tiên cây chịu nắng</a:t>
            </a:r>
            <a:endParaRPr lang="en-US" sz="1150" dirty="0"/>
          </a:p>
          <a:p>
            <a:pPr indent="0" marL="0">
              <a:buNone/>
            </a:pPr>
            <a:r>
              <a:rPr lang="en-US" sz="1150" dirty="0">
                <a:solidFill>
                  <a:srgbClr val="1F2937"/>
                </a:solidFill>
              </a:rPr>
              <a:t>• Rễ không phá nền</a:t>
            </a:r>
            <a:endParaRPr lang="en-US" sz="1150" dirty="0"/>
          </a:p>
          <a:p>
            <a:pPr indent="0" marL="0">
              <a:buNone/>
            </a:pPr>
            <a:r>
              <a:rPr lang="en-US" sz="1150" dirty="0">
                <a:solidFill>
                  <a:srgbClr val="1F2937"/>
                </a:solidFill>
              </a:rPr>
              <a:t>• Dễ chăm sóc cho học sinh</a:t>
            </a:r>
            <a:endParaRPr lang="en-US" sz="1150" dirty="0"/>
          </a:p>
        </p:txBody>
      </p:sp>
      <p:sp>
        <p:nvSpPr>
          <p:cNvPr id="11" name="Text 9"/>
          <p:cNvSpPr/>
          <p:nvPr/>
        </p:nvSpPr>
        <p:spPr>
          <a:xfrm>
            <a:off x="914400" y="4572000"/>
            <a:ext cx="9875520" cy="640080"/>
          </a:xfrm>
          <a:prstGeom prst="rect">
            <a:avLst/>
          </a:prstGeom>
          <a:noFill/>
          <a:ln/>
        </p:spPr>
        <p:txBody>
          <a:bodyPr wrap="square" lIns="0" tIns="0" rIns="0" bIns="0" rtlCol="0" anchor="ctr">
            <a:normAutofit/>
          </a:bodyPr>
          <a:lstStyle/>
          <a:p>
            <a:pPr algn="ctr" indent="0" marL="0">
              <a:buNone/>
            </a:pPr>
            <a:r>
              <a:rPr lang="en-US" sz="1800" b="1" dirty="0">
                <a:solidFill>
                  <a:srgbClr val="0F172A"/>
                </a:solidFill>
              </a:rPr>
              <a:t>Sản phẩm cuối tuần 1: sơ đồ vị trí trồng, danh sách cây và người phụ trách từng khu vực.</a:t>
            </a:r>
            <a:endParaRPr lang="en-US" sz="1800" dirty="0"/>
          </a:p>
        </p:txBody>
      </p:sp>
      <p:sp>
        <p:nvSpPr>
          <p:cNvPr id="12" name="Text 10"/>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D4ED8"/>
          </a:solidFill>
          <a:ln w="12700">
            <a:solidFill>
              <a:srgbClr val="1D4ED8"/>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Tuần 2-3: Trồng và truyền thông</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Biến hoạt động thành trải nghiệm học tập</a:t>
            </a:r>
            <a:endParaRPr lang="en-US" sz="1050" dirty="0"/>
          </a:p>
        </p:txBody>
      </p:sp>
      <p:sp>
        <p:nvSpPr>
          <p:cNvPr id="5" name="Shape 3"/>
          <p:cNvSpPr/>
          <p:nvPr/>
        </p:nvSpPr>
        <p:spPr>
          <a:xfrm>
            <a:off x="1005840" y="1463040"/>
            <a:ext cx="1143000" cy="1143000"/>
          </a:xfrm>
          <a:prstGeom prst="ellipse">
            <a:avLst/>
          </a:prstGeom>
          <a:solidFill>
            <a:srgbClr val="22C55E"/>
          </a:solidFill>
          <a:ln w="12700">
            <a:solidFill>
              <a:srgbClr val="22C55E"/>
            </a:solidFill>
            <a:prstDash val="solid"/>
          </a:ln>
        </p:spPr>
      </p:sp>
      <p:sp>
        <p:nvSpPr>
          <p:cNvPr id="6" name="Text 4"/>
          <p:cNvSpPr/>
          <p:nvPr/>
        </p:nvSpPr>
        <p:spPr>
          <a:xfrm>
            <a:off x="1097280" y="178308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20</a:t>
            </a:r>
            <a:endParaRPr lang="en-US" sz="2200" dirty="0"/>
          </a:p>
        </p:txBody>
      </p:sp>
      <p:sp>
        <p:nvSpPr>
          <p:cNvPr id="7" name="Text 5"/>
          <p:cNvSpPr/>
          <p:nvPr/>
        </p:nvSpPr>
        <p:spPr>
          <a:xfrm>
            <a:off x="2331720" y="170992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cây xanh mục tiêu</a:t>
            </a:r>
            <a:endParaRPr lang="en-US" sz="1300" dirty="0"/>
          </a:p>
        </p:txBody>
      </p:sp>
      <p:sp>
        <p:nvSpPr>
          <p:cNvPr id="8" name="Shape 6"/>
          <p:cNvSpPr/>
          <p:nvPr/>
        </p:nvSpPr>
        <p:spPr>
          <a:xfrm>
            <a:off x="1005840" y="2834640"/>
            <a:ext cx="1143000" cy="1143000"/>
          </a:xfrm>
          <a:prstGeom prst="ellipse">
            <a:avLst/>
          </a:prstGeom>
          <a:solidFill>
            <a:srgbClr val="22C55E"/>
          </a:solidFill>
          <a:ln w="12700">
            <a:solidFill>
              <a:srgbClr val="22C55E"/>
            </a:solidFill>
            <a:prstDash val="solid"/>
          </a:ln>
        </p:spPr>
      </p:sp>
      <p:sp>
        <p:nvSpPr>
          <p:cNvPr id="9" name="Text 7"/>
          <p:cNvSpPr/>
          <p:nvPr/>
        </p:nvSpPr>
        <p:spPr>
          <a:xfrm>
            <a:off x="1097280" y="315468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10" name="Text 8"/>
          <p:cNvSpPr/>
          <p:nvPr/>
        </p:nvSpPr>
        <p:spPr>
          <a:xfrm>
            <a:off x="2331720" y="308152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nhóm chăm sóc</a:t>
            </a:r>
            <a:endParaRPr lang="en-US" sz="1300" dirty="0"/>
          </a:p>
        </p:txBody>
      </p:sp>
      <p:sp>
        <p:nvSpPr>
          <p:cNvPr id="11" name="Shape 9"/>
          <p:cNvSpPr/>
          <p:nvPr/>
        </p:nvSpPr>
        <p:spPr>
          <a:xfrm>
            <a:off x="1005840" y="4206240"/>
            <a:ext cx="1143000" cy="1143000"/>
          </a:xfrm>
          <a:prstGeom prst="ellipse">
            <a:avLst/>
          </a:prstGeom>
          <a:solidFill>
            <a:srgbClr val="22C55E"/>
          </a:solidFill>
          <a:ln w="12700">
            <a:solidFill>
              <a:srgbClr val="22C55E"/>
            </a:solidFill>
            <a:prstDash val="solid"/>
          </a:ln>
        </p:spPr>
      </p:sp>
      <p:sp>
        <p:nvSpPr>
          <p:cNvPr id="12" name="Text 10"/>
          <p:cNvSpPr/>
          <p:nvPr/>
        </p:nvSpPr>
        <p:spPr>
          <a:xfrm>
            <a:off x="1097280" y="452628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3" name="Text 11"/>
          <p:cNvSpPr/>
          <p:nvPr/>
        </p:nvSpPr>
        <p:spPr>
          <a:xfrm>
            <a:off x="2331720" y="445312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buổi truyền thông</a:t>
            </a:r>
            <a:endParaRPr lang="en-US" sz="1300" dirty="0"/>
          </a:p>
        </p:txBody>
      </p:sp>
      <p:sp>
        <p:nvSpPr>
          <p:cNvPr id="14" name="Shape 12"/>
          <p:cNvSpPr/>
          <p:nvPr/>
        </p:nvSpPr>
        <p:spPr>
          <a:xfrm>
            <a:off x="6035040" y="1463040"/>
            <a:ext cx="5212080" cy="1874520"/>
          </a:xfrm>
          <a:prstGeom prst="roundRect">
            <a:avLst>
              <a:gd name="adj" fmla="val 3902"/>
            </a:avLst>
          </a:prstGeom>
          <a:solidFill>
            <a:srgbClr val="FFFFFF"/>
          </a:solidFill>
          <a:ln w="12700">
            <a:solidFill>
              <a:srgbClr val="CBD5E1"/>
            </a:solidFill>
            <a:prstDash val="solid"/>
          </a:ln>
        </p:spPr>
      </p:sp>
      <p:sp>
        <p:nvSpPr>
          <p:cNvPr id="15" name="Text 13"/>
          <p:cNvSpPr/>
          <p:nvPr/>
        </p:nvSpPr>
        <p:spPr>
          <a:xfrm>
            <a:off x="6263640" y="162763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Cách triển khai</a:t>
            </a:r>
            <a:endParaRPr lang="en-US" sz="1600" dirty="0"/>
          </a:p>
        </p:txBody>
      </p:sp>
      <p:sp>
        <p:nvSpPr>
          <p:cNvPr id="16" name="Text 14"/>
          <p:cNvSpPr/>
          <p:nvPr/>
        </p:nvSpPr>
        <p:spPr>
          <a:xfrm>
            <a:off x="6309360" y="202996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Mỗi nhóm nhận một khu vực</a:t>
            </a:r>
            <a:endParaRPr lang="en-US" sz="1150" dirty="0"/>
          </a:p>
          <a:p>
            <a:pPr indent="0" marL="0">
              <a:buNone/>
            </a:pPr>
            <a:r>
              <a:rPr lang="en-US" sz="1150" dirty="0">
                <a:solidFill>
                  <a:srgbClr val="1F2937"/>
                </a:solidFill>
              </a:rPr>
              <a:t>• Chụp ảnh trước và sau khi trồng</a:t>
            </a:r>
            <a:endParaRPr lang="en-US" sz="1150" dirty="0"/>
          </a:p>
          <a:p>
            <a:pPr indent="0" marL="0">
              <a:buNone/>
            </a:pPr>
            <a:r>
              <a:rPr lang="en-US" sz="1150" dirty="0">
                <a:solidFill>
                  <a:srgbClr val="1F2937"/>
                </a:solidFill>
              </a:rPr>
              <a:t>• Dán bảng tên cây và hướng dẫn tưới</a:t>
            </a:r>
            <a:endParaRPr lang="en-US" sz="1150" dirty="0"/>
          </a:p>
        </p:txBody>
      </p:sp>
      <p:sp>
        <p:nvSpPr>
          <p:cNvPr id="17" name="Shape 15"/>
          <p:cNvSpPr/>
          <p:nvPr/>
        </p:nvSpPr>
        <p:spPr>
          <a:xfrm>
            <a:off x="6035040" y="3657600"/>
            <a:ext cx="5212080" cy="1874520"/>
          </a:xfrm>
          <a:prstGeom prst="roundRect">
            <a:avLst>
              <a:gd name="adj" fmla="val 3902"/>
            </a:avLst>
          </a:prstGeom>
          <a:solidFill>
            <a:srgbClr val="FFFFFF"/>
          </a:solidFill>
          <a:ln w="12700">
            <a:solidFill>
              <a:srgbClr val="CBD5E1"/>
            </a:solidFill>
            <a:prstDash val="solid"/>
          </a:ln>
        </p:spPr>
      </p:sp>
      <p:sp>
        <p:nvSpPr>
          <p:cNvPr id="18" name="Text 16"/>
          <p:cNvSpPr/>
          <p:nvPr/>
        </p:nvSpPr>
        <p:spPr>
          <a:xfrm>
            <a:off x="6263640" y="382219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Truyền thông</a:t>
            </a:r>
            <a:endParaRPr lang="en-US" sz="1600" dirty="0"/>
          </a:p>
        </p:txBody>
      </p:sp>
      <p:sp>
        <p:nvSpPr>
          <p:cNvPr id="19" name="Text 17"/>
          <p:cNvSpPr/>
          <p:nvPr/>
        </p:nvSpPr>
        <p:spPr>
          <a:xfrm>
            <a:off x="6309360" y="4224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Đăng poster trong lớp</a:t>
            </a:r>
            <a:endParaRPr lang="en-US" sz="1150" dirty="0"/>
          </a:p>
          <a:p>
            <a:pPr indent="0" marL="0">
              <a:buNone/>
            </a:pPr>
            <a:r>
              <a:rPr lang="en-US" sz="1150" dirty="0">
                <a:solidFill>
                  <a:srgbClr val="1F2937"/>
                </a:solidFill>
              </a:rPr>
              <a:t>• Kêu gọi bình nước tái sử dụng</a:t>
            </a:r>
            <a:endParaRPr lang="en-US" sz="1150" dirty="0"/>
          </a:p>
          <a:p>
            <a:pPr indent="0" marL="0">
              <a:buNone/>
            </a:pPr>
            <a:r>
              <a:rPr lang="en-US" sz="1150" dirty="0">
                <a:solidFill>
                  <a:srgbClr val="1F2937"/>
                </a:solidFill>
              </a:rPr>
              <a:t>• Tổng kết bằng ảnh ngắn</a:t>
            </a:r>
            <a:endParaRPr lang="en-US" sz="1150" dirty="0"/>
          </a:p>
        </p:txBody>
      </p:sp>
      <p:sp>
        <p:nvSpPr>
          <p:cNvPr id="20" name="Text 18"/>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D4ED8"/>
          </a:solidFill>
          <a:ln w="12700">
            <a:solidFill>
              <a:srgbClr val="1D4ED8"/>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Tuần 4: Theo dõi và đánh giá</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Cây sống khỏe mới là kết quả thật</a:t>
            </a:r>
            <a:endParaRPr lang="en-US" sz="1050" dirty="0"/>
          </a:p>
        </p:txBody>
      </p:sp>
      <p:sp>
        <p:nvSpPr>
          <p:cNvPr id="5" name="Shape 3"/>
          <p:cNvSpPr/>
          <p:nvPr/>
        </p:nvSpPr>
        <p:spPr>
          <a:xfrm>
            <a:off x="777240" y="1920240"/>
            <a:ext cx="2194560" cy="1371600"/>
          </a:xfrm>
          <a:prstGeom prst="roundRect">
            <a:avLst>
              <a:gd name="adj" fmla="val 6667"/>
            </a:avLst>
          </a:prstGeom>
          <a:solidFill>
            <a:srgbClr val="EFF6FF"/>
          </a:solidFill>
          <a:ln w="12700">
            <a:solidFill>
              <a:srgbClr val="93C5FD"/>
            </a:solidFill>
            <a:prstDash val="solid"/>
          </a:ln>
        </p:spPr>
      </p:sp>
      <p:sp>
        <p:nvSpPr>
          <p:cNvPr id="6" name="Text 4"/>
          <p:cNvSpPr/>
          <p:nvPr/>
        </p:nvSpPr>
        <p:spPr>
          <a:xfrm>
            <a:off x="1554480" y="2084832"/>
            <a:ext cx="640080" cy="320040"/>
          </a:xfrm>
          <a:prstGeom prst="rect">
            <a:avLst/>
          </a:prstGeom>
          <a:noFill/>
          <a:ln/>
        </p:spPr>
        <p:txBody>
          <a:bodyPr wrap="square" lIns="0" tIns="0" rIns="0" bIns="0" rtlCol="0" anchor="ctr"/>
          <a:lstStyle/>
          <a:p>
            <a:pPr algn="ctr" indent="0" marL="0">
              <a:buNone/>
            </a:pPr>
            <a:r>
              <a:rPr lang="en-US" sz="2200" b="1" dirty="0">
                <a:solidFill>
                  <a:srgbClr val="1D4ED8"/>
                </a:solidFill>
              </a:rPr>
              <a:t>1</a:t>
            </a:r>
            <a:endParaRPr lang="en-US" sz="2200" dirty="0"/>
          </a:p>
        </p:txBody>
      </p:sp>
      <p:sp>
        <p:nvSpPr>
          <p:cNvPr id="7" name="Text 5"/>
          <p:cNvSpPr/>
          <p:nvPr/>
        </p:nvSpPr>
        <p:spPr>
          <a:xfrm>
            <a:off x="960120" y="2615184"/>
            <a:ext cx="1828800" cy="411480"/>
          </a:xfrm>
          <a:prstGeom prst="rect">
            <a:avLst/>
          </a:prstGeom>
          <a:noFill/>
          <a:ln/>
        </p:spPr>
        <p:txBody>
          <a:bodyPr wrap="square" lIns="0" tIns="0" rIns="0" bIns="0" rtlCol="0" anchor="ctr">
            <a:normAutofit/>
          </a:bodyPr>
          <a:lstStyle/>
          <a:p>
            <a:pPr algn="ctr" indent="0" marL="0">
              <a:buNone/>
            </a:pPr>
            <a:r>
              <a:rPr lang="en-US" sz="1200" dirty="0">
                <a:solidFill>
                  <a:srgbClr val="1F2937"/>
                </a:solidFill>
              </a:rPr>
              <a:t>Kiểm tra lá và độ ẩm đất</a:t>
            </a:r>
            <a:endParaRPr lang="en-US" sz="1200" dirty="0"/>
          </a:p>
        </p:txBody>
      </p:sp>
      <p:sp>
        <p:nvSpPr>
          <p:cNvPr id="8" name="Shape 6"/>
          <p:cNvSpPr/>
          <p:nvPr/>
        </p:nvSpPr>
        <p:spPr>
          <a:xfrm>
            <a:off x="3566160" y="1920240"/>
            <a:ext cx="2194560" cy="1371600"/>
          </a:xfrm>
          <a:prstGeom prst="roundRect">
            <a:avLst>
              <a:gd name="adj" fmla="val 6667"/>
            </a:avLst>
          </a:prstGeom>
          <a:solidFill>
            <a:srgbClr val="EFF6FF"/>
          </a:solidFill>
          <a:ln w="12700">
            <a:solidFill>
              <a:srgbClr val="93C5FD"/>
            </a:solidFill>
            <a:prstDash val="solid"/>
          </a:ln>
        </p:spPr>
      </p:sp>
      <p:sp>
        <p:nvSpPr>
          <p:cNvPr id="9" name="Text 7"/>
          <p:cNvSpPr/>
          <p:nvPr/>
        </p:nvSpPr>
        <p:spPr>
          <a:xfrm>
            <a:off x="4343400" y="2084832"/>
            <a:ext cx="640080" cy="320040"/>
          </a:xfrm>
          <a:prstGeom prst="rect">
            <a:avLst/>
          </a:prstGeom>
          <a:noFill/>
          <a:ln/>
        </p:spPr>
        <p:txBody>
          <a:bodyPr wrap="square" lIns="0" tIns="0" rIns="0" bIns="0" rtlCol="0" anchor="ctr"/>
          <a:lstStyle/>
          <a:p>
            <a:pPr algn="ctr" indent="0" marL="0">
              <a:buNone/>
            </a:pPr>
            <a:r>
              <a:rPr lang="en-US" sz="2200" b="1" dirty="0">
                <a:solidFill>
                  <a:srgbClr val="1D4ED8"/>
                </a:solidFill>
              </a:rPr>
              <a:t>2</a:t>
            </a:r>
            <a:endParaRPr lang="en-US" sz="2200" dirty="0"/>
          </a:p>
        </p:txBody>
      </p:sp>
      <p:sp>
        <p:nvSpPr>
          <p:cNvPr id="10" name="Text 8"/>
          <p:cNvSpPr/>
          <p:nvPr/>
        </p:nvSpPr>
        <p:spPr>
          <a:xfrm>
            <a:off x="3749040" y="2615184"/>
            <a:ext cx="1828800" cy="411480"/>
          </a:xfrm>
          <a:prstGeom prst="rect">
            <a:avLst/>
          </a:prstGeom>
          <a:noFill/>
          <a:ln/>
        </p:spPr>
        <p:txBody>
          <a:bodyPr wrap="square" lIns="0" tIns="0" rIns="0" bIns="0" rtlCol="0" anchor="ctr">
            <a:normAutofit/>
          </a:bodyPr>
          <a:lstStyle/>
          <a:p>
            <a:pPr algn="ctr" indent="0" marL="0">
              <a:buNone/>
            </a:pPr>
            <a:r>
              <a:rPr lang="en-US" sz="1200" dirty="0">
                <a:solidFill>
                  <a:srgbClr val="1F2937"/>
                </a:solidFill>
              </a:rPr>
              <a:t>Ghi nhận cây yếu hoặc sâu bệnh</a:t>
            </a:r>
            <a:endParaRPr lang="en-US" sz="1200" dirty="0"/>
          </a:p>
        </p:txBody>
      </p:sp>
      <p:sp>
        <p:nvSpPr>
          <p:cNvPr id="11" name="Shape 9"/>
          <p:cNvSpPr/>
          <p:nvPr/>
        </p:nvSpPr>
        <p:spPr>
          <a:xfrm>
            <a:off x="6355080" y="1920240"/>
            <a:ext cx="2194560" cy="1371600"/>
          </a:xfrm>
          <a:prstGeom prst="roundRect">
            <a:avLst>
              <a:gd name="adj" fmla="val 6667"/>
            </a:avLst>
          </a:prstGeom>
          <a:solidFill>
            <a:srgbClr val="EFF6FF"/>
          </a:solidFill>
          <a:ln w="12700">
            <a:solidFill>
              <a:srgbClr val="93C5FD"/>
            </a:solidFill>
            <a:prstDash val="solid"/>
          </a:ln>
        </p:spPr>
      </p:sp>
      <p:sp>
        <p:nvSpPr>
          <p:cNvPr id="12" name="Text 10"/>
          <p:cNvSpPr/>
          <p:nvPr/>
        </p:nvSpPr>
        <p:spPr>
          <a:xfrm>
            <a:off x="7132320" y="2084832"/>
            <a:ext cx="640080" cy="320040"/>
          </a:xfrm>
          <a:prstGeom prst="rect">
            <a:avLst/>
          </a:prstGeom>
          <a:noFill/>
          <a:ln/>
        </p:spPr>
        <p:txBody>
          <a:bodyPr wrap="square" lIns="0" tIns="0" rIns="0" bIns="0" rtlCol="0" anchor="ctr"/>
          <a:lstStyle/>
          <a:p>
            <a:pPr algn="ctr" indent="0" marL="0">
              <a:buNone/>
            </a:pPr>
            <a:r>
              <a:rPr lang="en-US" sz="2200" b="1" dirty="0">
                <a:solidFill>
                  <a:srgbClr val="1D4ED8"/>
                </a:solidFill>
              </a:rPr>
              <a:t>3</a:t>
            </a:r>
            <a:endParaRPr lang="en-US" sz="2200" dirty="0"/>
          </a:p>
        </p:txBody>
      </p:sp>
      <p:sp>
        <p:nvSpPr>
          <p:cNvPr id="13" name="Text 11"/>
          <p:cNvSpPr/>
          <p:nvPr/>
        </p:nvSpPr>
        <p:spPr>
          <a:xfrm>
            <a:off x="6537960" y="2615184"/>
            <a:ext cx="1828800" cy="411480"/>
          </a:xfrm>
          <a:prstGeom prst="rect">
            <a:avLst/>
          </a:prstGeom>
          <a:noFill/>
          <a:ln/>
        </p:spPr>
        <p:txBody>
          <a:bodyPr wrap="square" lIns="0" tIns="0" rIns="0" bIns="0" rtlCol="0" anchor="ctr">
            <a:normAutofit/>
          </a:bodyPr>
          <a:lstStyle/>
          <a:p>
            <a:pPr algn="ctr" indent="0" marL="0">
              <a:buNone/>
            </a:pPr>
            <a:r>
              <a:rPr lang="en-US" sz="1200" dirty="0">
                <a:solidFill>
                  <a:srgbClr val="1F2937"/>
                </a:solidFill>
              </a:rPr>
              <a:t>Điều chỉnh lịch tưới theo thời tiết</a:t>
            </a:r>
            <a:endParaRPr lang="en-US" sz="1200" dirty="0"/>
          </a:p>
        </p:txBody>
      </p:sp>
      <p:sp>
        <p:nvSpPr>
          <p:cNvPr id="14" name="Shape 12"/>
          <p:cNvSpPr/>
          <p:nvPr/>
        </p:nvSpPr>
        <p:spPr>
          <a:xfrm>
            <a:off x="9144000" y="1920240"/>
            <a:ext cx="2194560" cy="1371600"/>
          </a:xfrm>
          <a:prstGeom prst="roundRect">
            <a:avLst>
              <a:gd name="adj" fmla="val 6667"/>
            </a:avLst>
          </a:prstGeom>
          <a:solidFill>
            <a:srgbClr val="EFF6FF"/>
          </a:solidFill>
          <a:ln w="12700">
            <a:solidFill>
              <a:srgbClr val="93C5FD"/>
            </a:solidFill>
            <a:prstDash val="solid"/>
          </a:ln>
        </p:spPr>
      </p:sp>
      <p:sp>
        <p:nvSpPr>
          <p:cNvPr id="15" name="Text 13"/>
          <p:cNvSpPr/>
          <p:nvPr/>
        </p:nvSpPr>
        <p:spPr>
          <a:xfrm>
            <a:off x="9921240" y="2084832"/>
            <a:ext cx="640080" cy="320040"/>
          </a:xfrm>
          <a:prstGeom prst="rect">
            <a:avLst/>
          </a:prstGeom>
          <a:noFill/>
          <a:ln/>
        </p:spPr>
        <p:txBody>
          <a:bodyPr wrap="square" lIns="0" tIns="0" rIns="0" bIns="0" rtlCol="0" anchor="ctr"/>
          <a:lstStyle/>
          <a:p>
            <a:pPr algn="ctr" indent="0" marL="0">
              <a:buNone/>
            </a:pPr>
            <a:r>
              <a:rPr lang="en-US" sz="2200" b="1" dirty="0">
                <a:solidFill>
                  <a:srgbClr val="1D4ED8"/>
                </a:solidFill>
              </a:rPr>
              <a:t>4</a:t>
            </a:r>
            <a:endParaRPr lang="en-US" sz="2200" dirty="0"/>
          </a:p>
        </p:txBody>
      </p:sp>
      <p:sp>
        <p:nvSpPr>
          <p:cNvPr id="16" name="Text 14"/>
          <p:cNvSpPr/>
          <p:nvPr/>
        </p:nvSpPr>
        <p:spPr>
          <a:xfrm>
            <a:off x="9326880" y="2615184"/>
            <a:ext cx="1828800" cy="411480"/>
          </a:xfrm>
          <a:prstGeom prst="rect">
            <a:avLst/>
          </a:prstGeom>
          <a:noFill/>
          <a:ln/>
        </p:spPr>
        <p:txBody>
          <a:bodyPr wrap="square" lIns="0" tIns="0" rIns="0" bIns="0" rtlCol="0" anchor="ctr">
            <a:normAutofit/>
          </a:bodyPr>
          <a:lstStyle/>
          <a:p>
            <a:pPr algn="ctr" indent="0" marL="0">
              <a:buNone/>
            </a:pPr>
            <a:r>
              <a:rPr lang="en-US" sz="1200" dirty="0">
                <a:solidFill>
                  <a:srgbClr val="1F2937"/>
                </a:solidFill>
              </a:rPr>
              <a:t>Tổng hợp ảnh và báo cáo</a:t>
            </a:r>
            <a:endParaRPr lang="en-US" sz="1200" dirty="0"/>
          </a:p>
        </p:txBody>
      </p:sp>
      <p:sp>
        <p:nvSpPr>
          <p:cNvPr id="17" name="Text 15"/>
          <p:cNvSpPr/>
          <p:nvPr/>
        </p:nvSpPr>
        <p:spPr>
          <a:xfrm>
            <a:off x="1005840" y="4846320"/>
            <a:ext cx="9601200" cy="640080"/>
          </a:xfrm>
          <a:prstGeom prst="rect">
            <a:avLst/>
          </a:prstGeom>
          <a:noFill/>
          <a:ln/>
        </p:spPr>
        <p:txBody>
          <a:bodyPr wrap="square" lIns="0" tIns="0" rIns="0" bIns="0" rtlCol="0" anchor="ctr">
            <a:normAutofit/>
          </a:bodyPr>
          <a:lstStyle/>
          <a:p>
            <a:pPr algn="ctr" indent="0" marL="0">
              <a:buNone/>
            </a:pPr>
            <a:r>
              <a:rPr lang="en-US" sz="1800" dirty="0">
                <a:solidFill>
                  <a:srgbClr val="334155"/>
                </a:solidFill>
              </a:rPr>
              <a:t>Báo cáo cuối chiến dịch nên có số cây sống, số cây cần thay, ảnh minh chứng và đề xuất duy trì trong tháng sau.</a:t>
            </a:r>
            <a:endParaRPr lang="en-US" sz="1800" dirty="0"/>
          </a:p>
        </p:txBody>
      </p:sp>
      <p:sp>
        <p:nvSpPr>
          <p:cNvPr id="18" name="Text 16"/>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D4ED8"/>
          </a:solidFill>
          <a:ln w="12700">
            <a:solidFill>
              <a:srgbClr val="1D4ED8"/>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Kết quả kỳ vọng</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Một khuôn viên xanh và có người chăm sóc</a:t>
            </a:r>
            <a:endParaRPr lang="en-US" sz="1050" dirty="0"/>
          </a:p>
        </p:txBody>
      </p:sp>
      <p:sp>
        <p:nvSpPr>
          <p:cNvPr id="5" name="Shape 3"/>
          <p:cNvSpPr/>
          <p:nvPr/>
        </p:nvSpPr>
        <p:spPr>
          <a:xfrm>
            <a:off x="914400" y="1417320"/>
            <a:ext cx="5212080" cy="1874520"/>
          </a:xfrm>
          <a:prstGeom prst="roundRect">
            <a:avLst>
              <a:gd name="adj" fmla="val 3902"/>
            </a:avLst>
          </a:prstGeom>
          <a:solidFill>
            <a:srgbClr val="FFFFFF"/>
          </a:solidFill>
          <a:ln w="12700">
            <a:solidFill>
              <a:srgbClr val="CBD5E1"/>
            </a:solidFill>
            <a:prstDash val="solid"/>
          </a:ln>
        </p:spPr>
      </p:sp>
      <p:sp>
        <p:nvSpPr>
          <p:cNvPr id="6" name="Text 4"/>
          <p:cNvSpPr/>
          <p:nvPr/>
        </p:nvSpPr>
        <p:spPr>
          <a:xfrm>
            <a:off x="1143000" y="158191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Kết quả hữu hình</a:t>
            </a:r>
            <a:endParaRPr lang="en-US" sz="1600" dirty="0"/>
          </a:p>
        </p:txBody>
      </p:sp>
      <p:sp>
        <p:nvSpPr>
          <p:cNvPr id="7" name="Text 5"/>
          <p:cNvSpPr/>
          <p:nvPr/>
        </p:nvSpPr>
        <p:spPr>
          <a:xfrm>
            <a:off x="1188720" y="198424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Có thêm mảng xanh trong sân trường</a:t>
            </a:r>
            <a:endParaRPr lang="en-US" sz="1150" dirty="0"/>
          </a:p>
          <a:p>
            <a:pPr indent="0" marL="0">
              <a:buNone/>
            </a:pPr>
            <a:r>
              <a:rPr lang="en-US" sz="1150" dirty="0">
                <a:solidFill>
                  <a:srgbClr val="1F2937"/>
                </a:solidFill>
              </a:rPr>
              <a:t>• Khu vực trồng có bảng tên cây</a:t>
            </a:r>
            <a:endParaRPr lang="en-US" sz="1150" dirty="0"/>
          </a:p>
          <a:p>
            <a:pPr indent="0" marL="0">
              <a:buNone/>
            </a:pPr>
            <a:r>
              <a:rPr lang="en-US" sz="1150" dirty="0">
                <a:solidFill>
                  <a:srgbClr val="1F2937"/>
                </a:solidFill>
              </a:rPr>
              <a:t>• Hình ảnh trước - sau rõ ràng</a:t>
            </a:r>
            <a:endParaRPr lang="en-US" sz="1150" dirty="0"/>
          </a:p>
        </p:txBody>
      </p:sp>
      <p:sp>
        <p:nvSpPr>
          <p:cNvPr id="8" name="Shape 6"/>
          <p:cNvSpPr/>
          <p:nvPr/>
        </p:nvSpPr>
        <p:spPr>
          <a:xfrm>
            <a:off x="6126480" y="1417320"/>
            <a:ext cx="5212080" cy="1874520"/>
          </a:xfrm>
          <a:prstGeom prst="roundRect">
            <a:avLst>
              <a:gd name="adj" fmla="val 3902"/>
            </a:avLst>
          </a:prstGeom>
          <a:solidFill>
            <a:srgbClr val="FFFFFF"/>
          </a:solidFill>
          <a:ln w="12700">
            <a:solidFill>
              <a:srgbClr val="CBD5E1"/>
            </a:solidFill>
            <a:prstDash val="solid"/>
          </a:ln>
        </p:spPr>
      </p:sp>
      <p:sp>
        <p:nvSpPr>
          <p:cNvPr id="9" name="Text 7"/>
          <p:cNvSpPr/>
          <p:nvPr/>
        </p:nvSpPr>
        <p:spPr>
          <a:xfrm>
            <a:off x="6355080" y="1581912"/>
            <a:ext cx="4754880" cy="274320"/>
          </a:xfrm>
          <a:prstGeom prst="rect">
            <a:avLst/>
          </a:prstGeom>
          <a:noFill/>
          <a:ln/>
        </p:spPr>
        <p:txBody>
          <a:bodyPr wrap="square" lIns="0" tIns="0" rIns="0" bIns="0" rtlCol="0" anchor="ctr"/>
          <a:lstStyle/>
          <a:p>
            <a:pPr indent="0" marL="0">
              <a:buNone/>
            </a:pPr>
            <a:r>
              <a:rPr lang="en-US" sz="1600" b="1" dirty="0">
                <a:solidFill>
                  <a:srgbClr val="1D4ED8"/>
                </a:solidFill>
              </a:rPr>
              <a:t>Kết quả học tập</a:t>
            </a:r>
            <a:endParaRPr lang="en-US" sz="1600" dirty="0"/>
          </a:p>
        </p:txBody>
      </p:sp>
      <p:sp>
        <p:nvSpPr>
          <p:cNvPr id="10" name="Text 8"/>
          <p:cNvSpPr/>
          <p:nvPr/>
        </p:nvSpPr>
        <p:spPr>
          <a:xfrm>
            <a:off x="6400800" y="198424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Học sinh hiểu trách nhiệm chăm cây</a:t>
            </a:r>
            <a:endParaRPr lang="en-US" sz="1150" dirty="0"/>
          </a:p>
          <a:p>
            <a:pPr indent="0" marL="0">
              <a:buNone/>
            </a:pPr>
            <a:r>
              <a:rPr lang="en-US" sz="1150" dirty="0">
                <a:solidFill>
                  <a:srgbClr val="1F2937"/>
                </a:solidFill>
              </a:rPr>
              <a:t>• Biết lập kế hoạch nhóm nhỏ</a:t>
            </a:r>
            <a:endParaRPr lang="en-US" sz="1150" dirty="0"/>
          </a:p>
          <a:p>
            <a:pPr indent="0" marL="0">
              <a:buNone/>
            </a:pPr>
            <a:r>
              <a:rPr lang="en-US" sz="1150" dirty="0">
                <a:solidFill>
                  <a:srgbClr val="1F2937"/>
                </a:solidFill>
              </a:rPr>
              <a:t>• Có dữ liệu để đánh giá hoạt động</a:t>
            </a:r>
            <a:endParaRPr lang="en-US" sz="1150" dirty="0"/>
          </a:p>
        </p:txBody>
      </p:sp>
      <p:sp>
        <p:nvSpPr>
          <p:cNvPr id="11" name="Text 9"/>
          <p:cNvSpPr/>
          <p:nvPr/>
        </p:nvSpPr>
        <p:spPr>
          <a:xfrm>
            <a:off x="1005840" y="4754880"/>
            <a:ext cx="9601200" cy="548640"/>
          </a:xfrm>
          <a:prstGeom prst="rect">
            <a:avLst/>
          </a:prstGeom>
          <a:noFill/>
          <a:ln/>
        </p:spPr>
        <p:txBody>
          <a:bodyPr wrap="square" lIns="0" tIns="0" rIns="0" bIns="0" rtlCol="0" anchor="ctr"/>
          <a:lstStyle/>
          <a:p>
            <a:pPr algn="ctr" indent="0" marL="0">
              <a:buNone/>
            </a:pPr>
            <a:r>
              <a:rPr lang="en-US" sz="2200" b="1" dirty="0">
                <a:solidFill>
                  <a:srgbClr val="0F172A"/>
                </a:solidFill>
              </a:rPr>
              <a:t>Thông điệp: trồng cây là khởi đầu, chăm cây mới là cam kết.</a:t>
            </a:r>
            <a:endParaRPr lang="en-US" sz="2200" dirty="0"/>
          </a:p>
        </p:txBody>
      </p:sp>
      <p:sp>
        <p:nvSpPr>
          <p:cNvPr id="12" name="Text 10"/>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Chiến dịch trồng cây trường học</dc:title>
  <dc:subject>PptxGenJS Presentation</dc:subject>
  <dc:creator>OpenAI</dc:creator>
  <cp:lastModifiedBy>OpenAI</cp:lastModifiedBy>
  <cp:revision>1</cp:revision>
  <dcterms:created xsi:type="dcterms:W3CDTF">2026-05-21T05:05:44Z</dcterms:created>
  <dcterms:modified xsi:type="dcterms:W3CDTF">2026-05-21T05:05:44Z</dcterms:modified>
</cp:coreProperties>
</file>