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906000" cy="6858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114" cy="6857648"/>
          </a:xfrm>
          <a:custGeom>
            <a:avLst/>
            <a:gdLst/>
            <a:ahLst/>
            <a:cxnLst/>
            <a:rect r="r" b="b" t="t" l="l"/>
            <a:pathLst>
              <a:path h="6857648" w="9906114">
                <a:moveTo>
                  <a:pt x="0" y="0"/>
                </a:moveTo>
                <a:lnTo>
                  <a:pt x="9906114" y="0"/>
                </a:lnTo>
                <a:lnTo>
                  <a:pt x="9906114" y="6857648"/>
                </a:lnTo>
                <a:lnTo>
                  <a:pt x="0" y="685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42209" y="242649"/>
            <a:ext cx="621363" cy="843839"/>
          </a:xfrm>
          <a:custGeom>
            <a:avLst/>
            <a:gdLst/>
            <a:ahLst/>
            <a:cxnLst/>
            <a:rect r="r" b="b" t="t" l="l"/>
            <a:pathLst>
              <a:path h="843839" w="621363">
                <a:moveTo>
                  <a:pt x="0" y="0"/>
                </a:moveTo>
                <a:lnTo>
                  <a:pt x="621363" y="0"/>
                </a:lnTo>
                <a:lnTo>
                  <a:pt x="621363" y="843839"/>
                </a:lnTo>
                <a:lnTo>
                  <a:pt x="0" y="843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38807" y="-242071"/>
            <a:ext cx="3530981" cy="1855742"/>
          </a:xfrm>
          <a:custGeom>
            <a:avLst/>
            <a:gdLst/>
            <a:ahLst/>
            <a:cxnLst/>
            <a:rect r="r" b="b" t="t" l="l"/>
            <a:pathLst>
              <a:path h="1855742" w="3530981">
                <a:moveTo>
                  <a:pt x="0" y="0"/>
                </a:moveTo>
                <a:lnTo>
                  <a:pt x="3530980" y="0"/>
                </a:lnTo>
                <a:lnTo>
                  <a:pt x="3530980" y="1855742"/>
                </a:lnTo>
                <a:lnTo>
                  <a:pt x="0" y="1855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5136" r="0" b="-4513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104" y="2005498"/>
            <a:ext cx="839810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399" b="true">
                <a:solidFill>
                  <a:srgbClr val="1F4E7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ĐỀ TÀI: AI Document Question Answering System</a:t>
            </a:r>
          </a:p>
          <a:p>
            <a:pPr algn="l">
              <a:lnSpc>
                <a:spcPts val="5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43085" y="1287313"/>
            <a:ext cx="3922424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TRƯỜNG ĐẠI HỌC GIAO THÔNG VẬN TẢI THÀNH PHỐ HỒ CHÍ MINH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75945" y="3781911"/>
            <a:ext cx="759630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1F4E7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Giảng viên hướng dẫn: Nguyễn Văn Huy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5945" y="4505811"/>
            <a:ext cx="832922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>
                <a:solidFill>
                  <a:srgbClr val="1F4E7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Sinh viên thực hiện: Huỳnh Ngọc Quang Vinh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" y="0"/>
            <a:ext cx="9906114" cy="6857648"/>
          </a:xfrm>
          <a:custGeom>
            <a:avLst/>
            <a:gdLst/>
            <a:ahLst/>
            <a:cxnLst/>
            <a:rect r="r" b="b" t="t" l="l"/>
            <a:pathLst>
              <a:path h="6857648" w="9906114">
                <a:moveTo>
                  <a:pt x="0" y="0"/>
                </a:moveTo>
                <a:lnTo>
                  <a:pt x="9906114" y="0"/>
                </a:lnTo>
                <a:lnTo>
                  <a:pt x="9906114" y="6857648"/>
                </a:lnTo>
                <a:lnTo>
                  <a:pt x="0" y="685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943" y="1071627"/>
            <a:ext cx="5862388" cy="484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Giới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thiệu đề tài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Vấn đề thực tế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Giải pháp đề xuất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Kiến trúc tổng thể hệ thống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Chức năng chính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xử lý tài liệu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Luồng hỏi đáp AI/RAG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Giao diện hệ thống/demo</a:t>
            </a:r>
          </a:p>
          <a:p>
            <a:pPr algn="just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Kết quả benchmark và Kết luận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755" y="-170486"/>
            <a:ext cx="1441442" cy="1365939"/>
          </a:xfrm>
          <a:custGeom>
            <a:avLst/>
            <a:gdLst/>
            <a:ahLst/>
            <a:cxnLst/>
            <a:rect r="r" b="b" t="t" l="l"/>
            <a:pathLst>
              <a:path h="1365939" w="1441442">
                <a:moveTo>
                  <a:pt x="0" y="0"/>
                </a:moveTo>
                <a:lnTo>
                  <a:pt x="1441442" y="0"/>
                </a:lnTo>
                <a:lnTo>
                  <a:pt x="1441442" y="1365938"/>
                </a:lnTo>
                <a:lnTo>
                  <a:pt x="0" y="1365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63" r="0" b="-276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9681" y="300037"/>
            <a:ext cx="232664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1F4E7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Nội dung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7398" y="1795305"/>
            <a:ext cx="9324957" cy="528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Document Question Answering System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Hệ thống hỏi đáp tài liệu AI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upload nhiều định dạng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uản lý tài liệu theo workspace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Hỏi đáp bằng ngôn ngữ tự nhiên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rả lời dựa trên tài liệu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truy xuất thông tin nhanh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20912" y="-296440"/>
            <a:ext cx="1441442" cy="1177988"/>
          </a:xfrm>
          <a:custGeom>
            <a:avLst/>
            <a:gdLst/>
            <a:ahLst/>
            <a:cxnLst/>
            <a:rect r="r" b="b" t="t" l="l"/>
            <a:pathLst>
              <a:path h="1177988" w="1441442">
                <a:moveTo>
                  <a:pt x="0" y="0"/>
                </a:moveTo>
                <a:lnTo>
                  <a:pt x="1441442" y="0"/>
                </a:lnTo>
                <a:lnTo>
                  <a:pt x="1441442" y="1177987"/>
                </a:lnTo>
                <a:lnTo>
                  <a:pt x="0" y="1177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04" r="0" b="-1916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23003" y="1708243"/>
            <a:ext cx="3197209" cy="3197209"/>
          </a:xfrm>
          <a:custGeom>
            <a:avLst/>
            <a:gdLst/>
            <a:ahLst/>
            <a:cxnLst/>
            <a:rect r="r" b="b" t="t" l="l"/>
            <a:pathLst>
              <a:path h="3197209" w="3197209">
                <a:moveTo>
                  <a:pt x="0" y="0"/>
                </a:moveTo>
                <a:lnTo>
                  <a:pt x="3197209" y="0"/>
                </a:lnTo>
                <a:lnTo>
                  <a:pt x="3197209" y="3197209"/>
                </a:lnTo>
                <a:lnTo>
                  <a:pt x="0" y="319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2475" y="206829"/>
            <a:ext cx="669206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Giới thiệu đề tài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67585" y="-107186"/>
            <a:ext cx="1441442" cy="805273"/>
          </a:xfrm>
          <a:custGeom>
            <a:avLst/>
            <a:gdLst/>
            <a:ahLst/>
            <a:cxnLst/>
            <a:rect r="r" b="b" t="t" l="l"/>
            <a:pathLst>
              <a:path h="805273" w="1441442">
                <a:moveTo>
                  <a:pt x="0" y="0"/>
                </a:moveTo>
                <a:lnTo>
                  <a:pt x="1441442" y="0"/>
                </a:lnTo>
                <a:lnTo>
                  <a:pt x="1441442" y="805273"/>
                </a:lnTo>
                <a:lnTo>
                  <a:pt x="0" y="805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859" r="0" b="-531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94759" y="1242796"/>
            <a:ext cx="4252166" cy="4372407"/>
          </a:xfrm>
          <a:custGeom>
            <a:avLst/>
            <a:gdLst/>
            <a:ahLst/>
            <a:cxnLst/>
            <a:rect r="r" b="b" t="t" l="l"/>
            <a:pathLst>
              <a:path h="4372407" w="4252166">
                <a:moveTo>
                  <a:pt x="0" y="0"/>
                </a:moveTo>
                <a:lnTo>
                  <a:pt x="4252166" y="0"/>
                </a:lnTo>
                <a:lnTo>
                  <a:pt x="4252166" y="4372408"/>
                </a:lnTo>
                <a:lnTo>
                  <a:pt x="0" y="4372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312325"/>
            <a:ext cx="598219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Vấn đề thực tế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2239" y="1857206"/>
            <a:ext cx="4368205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Khó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khăn hiện nay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Tài liệu dài, khó tra cứu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Đọc thủ công tốn thời gian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th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ường dễ hallucination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Không hiểu dữ liệu nội bộ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Thiếu nguồn trích dẫn rõ ràng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Rủ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 ro bảo mật dữ liệu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4570" y="-389540"/>
            <a:ext cx="1441442" cy="1087627"/>
          </a:xfrm>
          <a:custGeom>
            <a:avLst/>
            <a:gdLst/>
            <a:ahLst/>
            <a:cxnLst/>
            <a:rect r="r" b="b" t="t" l="l"/>
            <a:pathLst>
              <a:path h="1087627" w="1441442">
                <a:moveTo>
                  <a:pt x="0" y="0"/>
                </a:moveTo>
                <a:lnTo>
                  <a:pt x="1441442" y="0"/>
                </a:lnTo>
                <a:lnTo>
                  <a:pt x="1441442" y="1087627"/>
                </a:lnTo>
                <a:lnTo>
                  <a:pt x="0" y="1087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71" r="0" b="-2905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93065" y="879281"/>
            <a:ext cx="4212947" cy="4464050"/>
          </a:xfrm>
          <a:custGeom>
            <a:avLst/>
            <a:gdLst/>
            <a:ahLst/>
            <a:cxnLst/>
            <a:rect r="r" b="b" t="t" l="l"/>
            <a:pathLst>
              <a:path h="4464050" w="4212947">
                <a:moveTo>
                  <a:pt x="0" y="0"/>
                </a:moveTo>
                <a:lnTo>
                  <a:pt x="4212947" y="0"/>
                </a:lnTo>
                <a:lnTo>
                  <a:pt x="4212947" y="4464051"/>
                </a:lnTo>
                <a:lnTo>
                  <a:pt x="0" y="4464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976" y="1106838"/>
            <a:ext cx="5126435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Giải pháp AIChatBox sử dụng RAG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Áp dụng kỹ thuật RAG hiện đại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Truy hồi dữ l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iệu trước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trả lời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Embedding và semantic retrieval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Giảm hallucina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tion của AI model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Trả lời bám sát tài liệu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Bảo mật dữ liệu người dùng private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209902" y="193481"/>
            <a:ext cx="598219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Giải pháp đề xuất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976" y="1319028"/>
            <a:ext cx="9688036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nd web: quản lý workspace, upload, chat, theo dõi tiến độ.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FastAPI: auth, workspace, message, upload, ask, admin.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Job Worker: xử lý ingest nền, cập nhật trạng thái job.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layer: PostgreSQL lưu metadata nghiệp vụ, FAISS lưu vector/chunk.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layer: LLM provider + local semantic embeddings + local OCR/vision fallback.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64570" y="-344990"/>
            <a:ext cx="1441442" cy="1225979"/>
          </a:xfrm>
          <a:custGeom>
            <a:avLst/>
            <a:gdLst/>
            <a:ahLst/>
            <a:cxnLst/>
            <a:rect r="r" b="b" t="t" l="l"/>
            <a:pathLst>
              <a:path h="1225979" w="1441442">
                <a:moveTo>
                  <a:pt x="0" y="0"/>
                </a:moveTo>
                <a:lnTo>
                  <a:pt x="1441442" y="0"/>
                </a:lnTo>
                <a:lnTo>
                  <a:pt x="1441442" y="1225979"/>
                </a:lnTo>
                <a:lnTo>
                  <a:pt x="0" y="1225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79" r="0" b="-1449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73620" y="300037"/>
            <a:ext cx="753527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spcBef>
                <a:spcPct val="0"/>
              </a:spcBef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Kiến trúc tổng thể của hệ thống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073053"/>
            <a:ext cx="9027121" cy="266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Tạo/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đổi tên/xóa workspace; quản lý tin nhắn và tài liệu.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đa định dạng: PDF, DOCX, PPTX, TXT/MD/CSV, ảnh.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Hỏi đáp theo tài liệu đã ingest, hỗ trợ phản hồi thường và stream.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Theo dõi upload job, retry job lỗi, export hội thoại ra PDF.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cả guest session và user đăng nhập.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191954" y="199903"/>
            <a:ext cx="598219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Chức năng chính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64570" y="-397342"/>
            <a:ext cx="1441442" cy="1365939"/>
          </a:xfrm>
          <a:custGeom>
            <a:avLst/>
            <a:gdLst/>
            <a:ahLst/>
            <a:cxnLst/>
            <a:rect r="r" b="b" t="t" l="l"/>
            <a:pathLst>
              <a:path h="1365939" w="1441442">
                <a:moveTo>
                  <a:pt x="0" y="0"/>
                </a:moveTo>
                <a:lnTo>
                  <a:pt x="1441442" y="0"/>
                </a:lnTo>
                <a:lnTo>
                  <a:pt x="1441442" y="1365939"/>
                </a:lnTo>
                <a:lnTo>
                  <a:pt x="0" y="136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63" r="0" b="-276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988757"/>
            <a:ext cx="9494532" cy="397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Nhận file upload và chọn loader theo định dạng.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Trích xuất nội dung văn bản; với PDF/DOCX/PPTX có phân tích ảnh chọn lọc.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OCR/Local Vis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ion chạy theo ngân sách thời gian và giới hạn đồng thời.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Chunking nội dung (mặc định chunk_size 1000, overlap 150).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Sinh embedding bằng BAAI/bge-small-en-v1.5 và lưu vào FAISS.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Lưu metadata + trạng thái job vào PostgreSQL.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64570" y="-344990"/>
            <a:ext cx="1441442" cy="1202511"/>
          </a:xfrm>
          <a:custGeom>
            <a:avLst/>
            <a:gdLst/>
            <a:ahLst/>
            <a:cxnLst/>
            <a:rect r="r" b="b" t="t" l="l"/>
            <a:pathLst>
              <a:path h="1202511" w="1441442">
                <a:moveTo>
                  <a:pt x="0" y="0"/>
                </a:moveTo>
                <a:lnTo>
                  <a:pt x="1441442" y="0"/>
                </a:lnTo>
                <a:lnTo>
                  <a:pt x="1441442" y="1202511"/>
                </a:lnTo>
                <a:lnTo>
                  <a:pt x="0" y="1202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39" r="0" b="-1672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48959" y="170540"/>
            <a:ext cx="598219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Pipeline xử lý tài liệu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93410" y="83132"/>
            <a:ext cx="598219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Luồng hỏi đáp AI/RAG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908377"/>
            <a:ext cx="8703938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Người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dùng gửi 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câu hỏi trong workspace.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Hệ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thống truy hồi chunk liên quan từ FAISS theo phạm vi workspace/tài liệu.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Có hỗ trợ hybrid retrieval và reranking theo cấu hình.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LLM tổng hợp câu trả lời từ ngữ cảnh truy hồi.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Trả kết quả dạng thường hoặc stream, đồng thời lưu lịch sử hội thoại.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345345" y="-381929"/>
            <a:ext cx="1441442" cy="1101571"/>
          </a:xfrm>
          <a:custGeom>
            <a:avLst/>
            <a:gdLst/>
            <a:ahLst/>
            <a:cxnLst/>
            <a:rect r="r" b="b" t="t" l="l"/>
            <a:pathLst>
              <a:path h="1101571" w="1441442">
                <a:moveTo>
                  <a:pt x="0" y="0"/>
                </a:moveTo>
                <a:lnTo>
                  <a:pt x="1441442" y="0"/>
                </a:lnTo>
                <a:lnTo>
                  <a:pt x="1441442" y="1101571"/>
                </a:lnTo>
                <a:lnTo>
                  <a:pt x="0" y="110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27" r="0" b="-2742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4570" y="-327540"/>
            <a:ext cx="1441442" cy="1192771"/>
          </a:xfrm>
          <a:custGeom>
            <a:avLst/>
            <a:gdLst/>
            <a:ahLst/>
            <a:cxnLst/>
            <a:rect r="r" b="b" t="t" l="l"/>
            <a:pathLst>
              <a:path h="1192771" w="1441442">
                <a:moveTo>
                  <a:pt x="0" y="0"/>
                </a:moveTo>
                <a:lnTo>
                  <a:pt x="1441442" y="0"/>
                </a:lnTo>
                <a:lnTo>
                  <a:pt x="1441442" y="1192771"/>
                </a:lnTo>
                <a:lnTo>
                  <a:pt x="0" y="1192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65" r="0" b="-176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5800" y="1752952"/>
            <a:ext cx="8298375" cy="4346274"/>
          </a:xfrm>
          <a:custGeom>
            <a:avLst/>
            <a:gdLst/>
            <a:ahLst/>
            <a:cxnLst/>
            <a:rect r="r" b="b" t="t" l="l"/>
            <a:pathLst>
              <a:path h="4346274" w="8298375">
                <a:moveTo>
                  <a:pt x="0" y="0"/>
                </a:moveTo>
                <a:lnTo>
                  <a:pt x="8298375" y="0"/>
                </a:lnTo>
                <a:lnTo>
                  <a:pt x="8298375" y="4346273"/>
                </a:lnTo>
                <a:lnTo>
                  <a:pt x="0" y="434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215514" y="179431"/>
            <a:ext cx="699431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Giao diện hệ thống và 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202" y="1025876"/>
            <a:ext cx="8703938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Giao diện đăng nhập/đăng kí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03225"/>
            <a:ext cx="4076694" cy="46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Giao diện workspace/chat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27894" y="-364096"/>
            <a:ext cx="1441442" cy="1049896"/>
          </a:xfrm>
          <a:custGeom>
            <a:avLst/>
            <a:gdLst/>
            <a:ahLst/>
            <a:cxnLst/>
            <a:rect r="r" b="b" t="t" l="l"/>
            <a:pathLst>
              <a:path h="1049896" w="1441442">
                <a:moveTo>
                  <a:pt x="0" y="0"/>
                </a:moveTo>
                <a:lnTo>
                  <a:pt x="1441443" y="0"/>
                </a:lnTo>
                <a:lnTo>
                  <a:pt x="1441443" y="1049896"/>
                </a:lnTo>
                <a:lnTo>
                  <a:pt x="0" y="1049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95" r="0" b="-3369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5800" y="1464989"/>
            <a:ext cx="8261031" cy="4337041"/>
          </a:xfrm>
          <a:custGeom>
            <a:avLst/>
            <a:gdLst/>
            <a:ahLst/>
            <a:cxnLst/>
            <a:rect r="r" b="b" t="t" l="l"/>
            <a:pathLst>
              <a:path h="4337041" w="8261031">
                <a:moveTo>
                  <a:pt x="0" y="0"/>
                </a:moveTo>
                <a:lnTo>
                  <a:pt x="8261031" y="0"/>
                </a:lnTo>
                <a:lnTo>
                  <a:pt x="8261031" y="4337042"/>
                </a:lnTo>
                <a:lnTo>
                  <a:pt x="0" y="4337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6012" cy="6858000"/>
          </a:xfrm>
          <a:custGeom>
            <a:avLst/>
            <a:gdLst/>
            <a:ahLst/>
            <a:cxnLst/>
            <a:rect r="r" b="b" t="t" l="l"/>
            <a:pathLst>
              <a:path h="6858000" w="9906012">
                <a:moveTo>
                  <a:pt x="0" y="0"/>
                </a:moveTo>
                <a:lnTo>
                  <a:pt x="9906012" y="0"/>
                </a:lnTo>
                <a:lnTo>
                  <a:pt x="990601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64" t="-18887" r="-9764" b="-1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1480" y="1753851"/>
            <a:ext cx="6540698" cy="222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Mã nguồn (Backend &amp; Frontend).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Cơ sở dữ liệu MySQL (schema và dữ liệu mẫu).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Tài liệu kỹ thuật (Cài đặt, cấu hình, UML, ERD).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Tài liệu hướng dẫn sử dụng (cho GV và SV).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Báo cáo tổng kết dự án.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327894" y="-292639"/>
            <a:ext cx="1441442" cy="1148224"/>
          </a:xfrm>
          <a:custGeom>
            <a:avLst/>
            <a:gdLst/>
            <a:ahLst/>
            <a:cxnLst/>
            <a:rect r="r" b="b" t="t" l="l"/>
            <a:pathLst>
              <a:path h="1148224" w="1441442">
                <a:moveTo>
                  <a:pt x="0" y="0"/>
                </a:moveTo>
                <a:lnTo>
                  <a:pt x="1441443" y="0"/>
                </a:lnTo>
                <a:lnTo>
                  <a:pt x="1441443" y="1148224"/>
                </a:lnTo>
                <a:lnTo>
                  <a:pt x="0" y="1148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87" r="0" b="-222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67816" y="169785"/>
            <a:ext cx="82856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473" indent="-431737" lvl="1">
              <a:lnSpc>
                <a:spcPts val="4799"/>
              </a:lnSpc>
              <a:buAutoNum type="arabicPeriod" startAt="1"/>
            </a:pPr>
            <a:r>
              <a:rPr lang="en-US" b="true" sz="3999">
                <a:solidFill>
                  <a:srgbClr val="2D68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Kết quả benchmark và kết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DAG37OSdO0E</dc:identifier>
  <dcterms:modified xsi:type="dcterms:W3CDTF">2011-08-01T06:04:30Z</dcterms:modified>
  <cp:revision>1</cp:revision>
  <dc:title>AI Document Question Answering System</dc:title>
</cp:coreProperties>
</file>